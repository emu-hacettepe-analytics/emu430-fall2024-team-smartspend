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6" r:id="rId12"/>
  </p:sldIdLst>
  <p:sldSz cx="9144000" cy="5143500" type="screen16x9"/>
  <p:notesSz cx="5143500" cy="9144000"/>
  <p:embeddedFontLst>
    <p:embeddedFont>
      <p:font typeface="MuseoModerno Medium" pitchFamily="2" charset="0"/>
      <p:regular r:id="rId14"/>
    </p:embeddedFont>
    <p:embeddedFont>
      <p:font typeface="Source Sans 3" panose="020B0303030403090204" pitchFamily="34" charset="0"/>
      <p:regular r:id="rId15"/>
      <p:italic r:id="rId16"/>
    </p:embeddedFont>
  </p:embeddedFontLst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7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536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10556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SmartSpend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366144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Spending Efficiency Analysis in the Turkish Super Lig</a:t>
            </a:r>
            <a:endParaRPr lang="en-US" sz="11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Seasons 2023-24 | 2024-25 | 2025-26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925119" y="297924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Saltuk Bugrahan Tasdemir · Kerem Berkalp Cerekci</a:t>
            </a:r>
            <a:endParaRPr lang="en-US" sz="11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EMU430 — Data Analytics | Hacettepe University |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419770"/>
            <a:ext cx="33226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65162" y="1021928"/>
            <a:ext cx="821367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 ensure a robust and comprehensive analysis of spending efficiency in the Turkish Super Lig, we employed a meticulous approach encompassing data collection, metric definition, and advanced analytical techniques.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65162" y="1574006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65162" y="1785565"/>
            <a:ext cx="4044553" cy="14288"/>
          </a:xfrm>
          <a:prstGeom prst="rect">
            <a:avLst/>
          </a:prstGeom>
          <a:solidFill>
            <a:srgbClr val="325F7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65162" y="1880592"/>
            <a:ext cx="187486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Data Collection &amp; Scope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5162" y="2162994"/>
            <a:ext cx="4044553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Extensive data for </a:t>
            </a:r>
            <a:r>
              <a:rPr lang="en-US" sz="10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three consecutive seasons (2023-24, 2024-25, 2025-26)</a:t>
            </a: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was gathered from reputable football analytics platforms. This included player market values, club league points, transfer spending, and goals scored/conceded.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34285" y="1574006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34285" y="1785565"/>
            <a:ext cx="4044553" cy="14288"/>
          </a:xfrm>
          <a:prstGeom prst="rect">
            <a:avLst/>
          </a:prstGeom>
          <a:solidFill>
            <a:srgbClr val="325F7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634285" y="1880592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Key Metrics Defined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34285" y="2162994"/>
            <a:ext cx="4044553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 focused on quantifiable metrics such as </a:t>
            </a:r>
            <a:r>
              <a:rPr lang="en-US" sz="10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Squad Market Value (SMV)</a:t>
            </a: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total league points, net transfer expenditures, and goal differentials to assess both financial input and on-field output.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5162" y="3211116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5162" y="3422675"/>
            <a:ext cx="4044553" cy="14288"/>
          </a:xfrm>
          <a:prstGeom prst="rect">
            <a:avLst/>
          </a:prstGeom>
          <a:solidFill>
            <a:srgbClr val="325F7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65162" y="3517702"/>
            <a:ext cx="213285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Efficiency Score Calculation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5162" y="3800103"/>
            <a:ext cx="4044553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novel </a:t>
            </a:r>
            <a:r>
              <a:rPr lang="en-US" sz="10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Efficiency Score</a:t>
            </a: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was developed using the </a:t>
            </a:r>
            <a:r>
              <a:rPr lang="en-US" sz="10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Ordinary Least Squares (OLS) Residual Method</a:t>
            </a: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This allowed us to measure each team's performance relative to their spending, identifying under- and over-performers.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34285" y="3211116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34285" y="3422675"/>
            <a:ext cx="4044553" cy="14288"/>
          </a:xfrm>
          <a:prstGeom prst="rect">
            <a:avLst/>
          </a:prstGeom>
          <a:solidFill>
            <a:srgbClr val="325F7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634285" y="3517702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Statistical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34285" y="3800103"/>
            <a:ext cx="4044553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Correlation analysis was employed to identify relationships between financial investment and sporting success. Additionally, descriptive statistics and comparative analyses were used to highlight overall trends and outliers within the league.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54422"/>
            <a:ext cx="1193527" cy="266402"/>
          </a:xfrm>
          <a:prstGeom prst="roundRect">
            <a:avLst>
              <a:gd name="adj" fmla="val 6386"/>
            </a:avLst>
          </a:prstGeom>
          <a:solidFill>
            <a:srgbClr val="DBE8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81174" y="896913"/>
            <a:ext cx="102341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EXECUTIVE 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177528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Key Findings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833116"/>
            <a:ext cx="2622724" cy="1270471"/>
          </a:xfrm>
          <a:prstGeom prst="roundRect">
            <a:avLst>
              <a:gd name="adj" fmla="val 1674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37877" y="197487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Strong Correlation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7877" y="2281386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Pearson r = 0.855 avg. across seasons — money strongly predicts points.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1833116"/>
            <a:ext cx="2622724" cy="1270471"/>
          </a:xfrm>
          <a:prstGeom prst="roundRect">
            <a:avLst>
              <a:gd name="adj" fmla="val 1674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402360" y="197487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Galatasaray #1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02360" y="2281386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Most efficient large-budget club across all 3 seasons (avg. efficiency +6.9).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25083" y="1833116"/>
            <a:ext cx="2622724" cy="1270471"/>
          </a:xfrm>
          <a:prstGeom prst="roundRect">
            <a:avLst>
              <a:gd name="adj" fmla="val 1674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166842" y="197487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Small Clubs Win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66842" y="2281386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Samsunspor &amp; Sivasspor consistently over-perform their budgets by large margins.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6119" y="3245346"/>
            <a:ext cx="4004965" cy="1043657"/>
          </a:xfrm>
          <a:prstGeom prst="roundRect">
            <a:avLst>
              <a:gd name="adj" fmla="val 2038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37877" y="338710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Striker Paradox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7877" y="3693616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Forward wage spending has a </a:t>
            </a:r>
            <a:r>
              <a:rPr lang="en-US" sz="11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negative</a:t>
            </a: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correlation with goals (r = -0.12).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2842" y="3245346"/>
            <a:ext cx="4004965" cy="1043657"/>
          </a:xfrm>
          <a:prstGeom prst="roundRect">
            <a:avLst>
              <a:gd name="adj" fmla="val 2038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784601" y="338710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Best XI Insight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784601" y="3693616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G+A per EUR million Best XI is composed almost entirely of mid-table club players.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1871" y="490017"/>
            <a:ext cx="1144191" cy="237976"/>
          </a:xfrm>
          <a:prstGeom prst="roundRect">
            <a:avLst>
              <a:gd name="adj" fmla="val 6367"/>
            </a:avLst>
          </a:prstGeom>
          <a:noFill/>
          <a:ln w="4763">
            <a:solidFill>
              <a:srgbClr val="325F7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22387" y="532656"/>
            <a:ext cx="983159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&amp; METHODOLOGY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41871" y="772939"/>
            <a:ext cx="3630290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Data Sources &amp; Dataset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441871" y="1462608"/>
            <a:ext cx="1931789" cy="1163538"/>
          </a:xfrm>
          <a:prstGeom prst="roundRect">
            <a:avLst>
              <a:gd name="adj" fmla="val 1628"/>
            </a:avLst>
          </a:prstGeom>
          <a:solidFill>
            <a:srgbClr val="FFFCF5"/>
          </a:solidFill>
          <a:ln w="14288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82364" y="1603102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Transfermarkt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2364" y="1912813"/>
            <a:ext cx="1650802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Player market values (EUR), squad names, positions — 3 seasons, ~20 clubs/season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86099" y="1462608"/>
            <a:ext cx="1931863" cy="1163538"/>
          </a:xfrm>
          <a:prstGeom prst="roundRect">
            <a:avLst>
              <a:gd name="adj" fmla="val 1628"/>
            </a:avLst>
          </a:prstGeom>
          <a:solidFill>
            <a:srgbClr val="FFFCF5"/>
          </a:solidFill>
          <a:ln w="14288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2626593" y="1603102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FBref (StatsBomb)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26593" y="1912813"/>
            <a:ext cx="1650876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Points, W/D/L, Goals, Assists, Minutes, Save% — club &amp; player level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1871" y="2738586"/>
            <a:ext cx="3976092" cy="781645"/>
          </a:xfrm>
          <a:prstGeom prst="roundRect">
            <a:avLst>
              <a:gd name="adj" fmla="val 2423"/>
            </a:avLst>
          </a:prstGeom>
          <a:solidFill>
            <a:srgbClr val="FFFCF5"/>
          </a:solidFill>
          <a:ln w="14288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82364" y="2879080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Capology.com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2364" y="3188791"/>
            <a:ext cx="369510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Annual total wage bill (EUR) — club-level, 3 seasons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30800" y="1448544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Dataset Dimensions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30800" y="1772320"/>
            <a:ext cx="3976092" cy="1937891"/>
          </a:xfrm>
          <a:prstGeom prst="roundRect">
            <a:avLst>
              <a:gd name="adj" fmla="val 97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862215" y="1849264"/>
            <a:ext cx="106709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Dataset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86488" y="1849264"/>
            <a:ext cx="106471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Rows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508379" y="1849264"/>
            <a:ext cx="106709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Coverage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62215" y="2189336"/>
            <a:ext cx="106709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team_season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86488" y="2189336"/>
            <a:ext cx="106471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57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508379" y="2189336"/>
            <a:ext cx="1067098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20+19+18 clubs across 3 seasons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62215" y="2720355"/>
            <a:ext cx="106709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player_full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86488" y="2720355"/>
            <a:ext cx="106471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1,840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508379" y="2720355"/>
            <a:ext cx="1067098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Position, goals, assists, minutes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62215" y="3251374"/>
            <a:ext cx="106709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squad_values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86488" y="3251374"/>
            <a:ext cx="106471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57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508379" y="3251374"/>
            <a:ext cx="1067098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Avg. player value per club-season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30800" y="3836715"/>
            <a:ext cx="3976092" cy="690190"/>
          </a:xfrm>
          <a:prstGeom prst="roundRect">
            <a:avLst>
              <a:gd name="adj" fmla="val 2744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006" y="4017392"/>
            <a:ext cx="157758" cy="126206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140970" y="3980706"/>
            <a:ext cx="343971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pre-processing: team name standardisation, January transfer wage halving, player deduplication, and FBref standings cleaning.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26531" y="202183"/>
            <a:ext cx="189384" cy="119955"/>
          </a:xfrm>
          <a:prstGeom prst="roundRect">
            <a:avLst>
              <a:gd name="adj" fmla="val 7091"/>
            </a:avLst>
          </a:prstGeom>
          <a:noFill/>
          <a:ln w="4763">
            <a:solidFill>
              <a:srgbClr val="325F7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173784" y="228154"/>
            <a:ext cx="94878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EDA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2126531" y="336277"/>
            <a:ext cx="35142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Squad Market Value Distribution by Club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126531" y="610865"/>
            <a:ext cx="489093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Galatasaray and Fenerbahçe stand out clearly from the rest of the league across all three seasons.</a:t>
            </a:r>
            <a:endParaRPr lang="en-US" sz="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531" y="735732"/>
            <a:ext cx="3366939" cy="2020119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6531" y="2835473"/>
            <a:ext cx="3118545" cy="194905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26531" y="4824338"/>
            <a:ext cx="311854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550" i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Fig. 2 — Squad Value Distribution by Season (Box Plot)</a:t>
            </a:r>
            <a:endParaRPr lang="en-US" sz="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2776" y="3447604"/>
            <a:ext cx="1599381" cy="6397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22776" y="4127153"/>
            <a:ext cx="1599381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550" i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Fig. 3 — League Points Distribution by Season (Histogram)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15145" y="254347"/>
            <a:ext cx="234479" cy="154781"/>
          </a:xfrm>
          <a:prstGeom prst="roundRect">
            <a:avLst>
              <a:gd name="adj" fmla="val 6869"/>
            </a:avLst>
          </a:prstGeom>
          <a:noFill/>
          <a:ln w="4763">
            <a:solidFill>
              <a:srgbClr val="325F7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1573039" y="285676"/>
            <a:ext cx="118690" cy="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5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EDA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515145" y="431229"/>
            <a:ext cx="3725614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Squad Value vs. Points: Correlation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145" y="791170"/>
            <a:ext cx="4208711" cy="294605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515145" y="3861792"/>
            <a:ext cx="2948806" cy="965002"/>
          </a:xfrm>
          <a:prstGeom prst="roundRect">
            <a:avLst>
              <a:gd name="adj" fmla="val 137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1519907" y="3866555"/>
            <a:ext cx="2939281" cy="19109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1608683" y="3904506"/>
            <a:ext cx="555278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Season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2345829" y="3904506"/>
            <a:ext cx="552896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Clubs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3080593" y="3904506"/>
            <a:ext cx="552896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Pearson r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3815358" y="3904506"/>
            <a:ext cx="555278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p-value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1519907" y="4057650"/>
            <a:ext cx="2939281" cy="19109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1608683" y="4095601"/>
            <a:ext cx="555278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2023-24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2345829" y="4095601"/>
            <a:ext cx="552896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3080593" y="4095601"/>
            <a:ext cx="552896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0.891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3815358" y="4095601"/>
            <a:ext cx="555278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&lt; 0.001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1519907" y="4248745"/>
            <a:ext cx="2939281" cy="19109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5"/>
          <p:cNvSpPr/>
          <p:nvPr/>
        </p:nvSpPr>
        <p:spPr>
          <a:xfrm>
            <a:off x="1608683" y="4286696"/>
            <a:ext cx="555278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2024-25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2345829" y="4286696"/>
            <a:ext cx="552896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19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3080593" y="4286696"/>
            <a:ext cx="552896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0.803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3815358" y="4286696"/>
            <a:ext cx="555278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&lt; 0.001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1519907" y="4439841"/>
            <a:ext cx="2939281" cy="19109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0"/>
          <p:cNvSpPr/>
          <p:nvPr/>
        </p:nvSpPr>
        <p:spPr>
          <a:xfrm>
            <a:off x="1608683" y="4477792"/>
            <a:ext cx="555278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2025-26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2345829" y="4477792"/>
            <a:ext cx="552896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18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3080593" y="4477792"/>
            <a:ext cx="552896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0.872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3815358" y="4477792"/>
            <a:ext cx="555278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&lt; 0.001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1519907" y="4630936"/>
            <a:ext cx="2939281" cy="19109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Text 25"/>
          <p:cNvSpPr/>
          <p:nvPr/>
        </p:nvSpPr>
        <p:spPr>
          <a:xfrm>
            <a:off x="1608683" y="4668887"/>
            <a:ext cx="555278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Seasons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2345829" y="4668887"/>
            <a:ext cx="552896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57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3080593" y="4668887"/>
            <a:ext cx="552896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~0.855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3815358" y="4668887"/>
            <a:ext cx="555278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&lt; 0.001</a:t>
            </a:r>
            <a:endParaRPr lang="en-US" sz="650" dirty="0"/>
          </a:p>
        </p:txBody>
      </p:sp>
      <p:sp>
        <p:nvSpPr>
          <p:cNvPr id="32" name="Shape 29"/>
          <p:cNvSpPr/>
          <p:nvPr/>
        </p:nvSpPr>
        <p:spPr>
          <a:xfrm>
            <a:off x="4684812" y="3861792"/>
            <a:ext cx="2948806" cy="632296"/>
          </a:xfrm>
          <a:prstGeom prst="roundRect">
            <a:avLst>
              <a:gd name="adj" fmla="val 2102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364" y="3980631"/>
            <a:ext cx="110728" cy="88553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972645" y="3939257"/>
            <a:ext cx="2572420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Average r = 0.855 confirms a very strong budget-performance link. R² ≈ 0.72 means ~28% of points variance is explained by other factors — coaching, luck, fixture difficulty — creating the </a:t>
            </a:r>
            <a:r>
              <a:rPr lang="en-US" sz="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efficiency opportunity</a:t>
            </a:r>
            <a:r>
              <a:rPr lang="en-US" sz="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67991" y="235223"/>
            <a:ext cx="754335" cy="145777"/>
          </a:xfrm>
          <a:prstGeom prst="roundRect">
            <a:avLst>
              <a:gd name="adj" fmla="val 6929"/>
            </a:avLst>
          </a:prstGeom>
          <a:noFill/>
          <a:ln w="4763">
            <a:solidFill>
              <a:srgbClr val="325F7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1723206" y="265212"/>
            <a:ext cx="643905" cy="85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0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REGRESSION ANALYSIS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1667991" y="400943"/>
            <a:ext cx="3863653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Efficiency Score: OLS Residual Method</a:t>
            </a:r>
            <a:endParaRPr lang="en-US" sz="1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991" y="795114"/>
            <a:ext cx="3522911" cy="23485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7991" y="3199879"/>
            <a:ext cx="3522911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50" i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Fig. 5 — log(Squad Value) vs Points: OLS Fit ±1 SE Band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401047" y="989558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Model Parameters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401047" y="1177230"/>
            <a:ext cx="2079650" cy="1274713"/>
          </a:xfrm>
          <a:prstGeom prst="roundRect">
            <a:avLst>
              <a:gd name="adj" fmla="val 99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5490046" y="1216670"/>
            <a:ext cx="864319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Parameter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6527453" y="1216670"/>
            <a:ext cx="864319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Estimate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5490046" y="1398091"/>
            <a:ext cx="864319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Intercept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6527453" y="1398091"/>
            <a:ext cx="864319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-274.85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5490046" y="1579513"/>
            <a:ext cx="864319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log(squad_value)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6527453" y="1579513"/>
            <a:ext cx="864319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18.34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5490046" y="1760934"/>
            <a:ext cx="864319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R-squared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6527453" y="1760934"/>
            <a:ext cx="864319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0.7175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5490046" y="1942356"/>
            <a:ext cx="864319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Adj. R²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6527453" y="1942356"/>
            <a:ext cx="864319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0.7124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490046" y="2123777"/>
            <a:ext cx="864319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Residual SE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6527453" y="2123777"/>
            <a:ext cx="864319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9.9451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5490046" y="2305199"/>
            <a:ext cx="864319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Observations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6527453" y="2305199"/>
            <a:ext cx="864319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57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5401047" y="2508126"/>
            <a:ext cx="2079650" cy="587127"/>
          </a:xfrm>
          <a:prstGeom prst="roundRect">
            <a:avLst>
              <a:gd name="adj" fmla="val 2150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5209" y="2615803"/>
            <a:ext cx="105147" cy="8416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674519" y="2579043"/>
            <a:ext cx="172201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Efficiency Score</a:t>
            </a:r>
            <a:r>
              <a:rPr lang="en-US" sz="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= Actual Points − Model-Predicted Points</a:t>
            </a:r>
            <a:endParaRPr lang="en-US" sz="650" dirty="0"/>
          </a:p>
          <a:p>
            <a:pPr marL="0" indent="0" algn="l">
              <a:lnSpc>
                <a:spcPts val="8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Positive</a:t>
            </a:r>
            <a:r>
              <a:rPr lang="en-US" sz="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over-performs budget. </a:t>
            </a:r>
            <a:r>
              <a:rPr lang="en-US" sz="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Negative</a:t>
            </a:r>
            <a:r>
              <a:rPr lang="en-US" sz="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under-performs budget.</a:t>
            </a:r>
            <a:endParaRPr lang="en-US" sz="650" dirty="0"/>
          </a:p>
        </p:txBody>
      </p:sp>
      <p:sp>
        <p:nvSpPr>
          <p:cNvPr id="26" name="Text 22"/>
          <p:cNvSpPr/>
          <p:nvPr/>
        </p:nvSpPr>
        <p:spPr>
          <a:xfrm>
            <a:off x="1667991" y="3427065"/>
            <a:ext cx="1831702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Most &amp; Least Efficient Club-Seasons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1667991" y="3633490"/>
            <a:ext cx="5808018" cy="1274713"/>
          </a:xfrm>
          <a:prstGeom prst="roundRect">
            <a:avLst>
              <a:gd name="adj" fmla="val 99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4"/>
          <p:cNvSpPr/>
          <p:nvPr/>
        </p:nvSpPr>
        <p:spPr>
          <a:xfrm>
            <a:off x="1672754" y="3638252"/>
            <a:ext cx="5798493" cy="1766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Text 25"/>
          <p:cNvSpPr/>
          <p:nvPr/>
        </p:nvSpPr>
        <p:spPr>
          <a:xfrm>
            <a:off x="1757214" y="3672929"/>
            <a:ext cx="872951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Group</a:t>
            </a:r>
            <a:endParaRPr lang="en-US" sz="650" dirty="0"/>
          </a:p>
        </p:txBody>
      </p:sp>
      <p:sp>
        <p:nvSpPr>
          <p:cNvPr id="30" name="Text 26"/>
          <p:cNvSpPr/>
          <p:nvPr/>
        </p:nvSpPr>
        <p:spPr>
          <a:xfrm>
            <a:off x="2803252" y="3672929"/>
            <a:ext cx="1102519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Club</a:t>
            </a:r>
            <a:endParaRPr lang="en-US" sz="650" dirty="0"/>
          </a:p>
        </p:txBody>
      </p:sp>
      <p:sp>
        <p:nvSpPr>
          <p:cNvPr id="31" name="Text 27"/>
          <p:cNvSpPr/>
          <p:nvPr/>
        </p:nvSpPr>
        <p:spPr>
          <a:xfrm>
            <a:off x="4078858" y="3672929"/>
            <a:ext cx="75463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Season</a:t>
            </a:r>
            <a:endParaRPr lang="en-US" sz="650" dirty="0"/>
          </a:p>
        </p:txBody>
      </p:sp>
      <p:sp>
        <p:nvSpPr>
          <p:cNvPr id="32" name="Text 28"/>
          <p:cNvSpPr/>
          <p:nvPr/>
        </p:nvSpPr>
        <p:spPr>
          <a:xfrm>
            <a:off x="5006578" y="3672929"/>
            <a:ext cx="75463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Actual Pts</a:t>
            </a:r>
            <a:endParaRPr lang="en-US" sz="650" dirty="0"/>
          </a:p>
        </p:txBody>
      </p:sp>
      <p:sp>
        <p:nvSpPr>
          <p:cNvPr id="33" name="Text 29"/>
          <p:cNvSpPr/>
          <p:nvPr/>
        </p:nvSpPr>
        <p:spPr>
          <a:xfrm>
            <a:off x="5934298" y="3672929"/>
            <a:ext cx="75463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Predicted</a:t>
            </a:r>
            <a:endParaRPr lang="en-US" sz="650" dirty="0"/>
          </a:p>
        </p:txBody>
      </p:sp>
      <p:sp>
        <p:nvSpPr>
          <p:cNvPr id="34" name="Text 30"/>
          <p:cNvSpPr/>
          <p:nvPr/>
        </p:nvSpPr>
        <p:spPr>
          <a:xfrm>
            <a:off x="6862018" y="3672929"/>
            <a:ext cx="525066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Score</a:t>
            </a:r>
            <a:endParaRPr lang="en-US" sz="650" dirty="0"/>
          </a:p>
        </p:txBody>
      </p:sp>
      <p:sp>
        <p:nvSpPr>
          <p:cNvPr id="35" name="Shape 31"/>
          <p:cNvSpPr/>
          <p:nvPr/>
        </p:nvSpPr>
        <p:spPr>
          <a:xfrm>
            <a:off x="1672754" y="3814911"/>
            <a:ext cx="5798493" cy="1814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Text 32"/>
          <p:cNvSpPr/>
          <p:nvPr/>
        </p:nvSpPr>
        <p:spPr>
          <a:xfrm>
            <a:off x="1757214" y="3849588"/>
            <a:ext cx="872951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Best</a:t>
            </a:r>
            <a:endParaRPr lang="en-US" sz="650" dirty="0"/>
          </a:p>
        </p:txBody>
      </p:sp>
      <p:sp>
        <p:nvSpPr>
          <p:cNvPr id="37" name="Text 33"/>
          <p:cNvSpPr/>
          <p:nvPr/>
        </p:nvSpPr>
        <p:spPr>
          <a:xfrm>
            <a:off x="2803252" y="3849588"/>
            <a:ext cx="1102519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Galatasaray</a:t>
            </a:r>
            <a:endParaRPr lang="en-US" sz="650" dirty="0"/>
          </a:p>
        </p:txBody>
      </p:sp>
      <p:sp>
        <p:nvSpPr>
          <p:cNvPr id="38" name="Text 34"/>
          <p:cNvSpPr/>
          <p:nvPr/>
        </p:nvSpPr>
        <p:spPr>
          <a:xfrm>
            <a:off x="4078858" y="3849588"/>
            <a:ext cx="75463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2023-24</a:t>
            </a:r>
            <a:endParaRPr lang="en-US" sz="650" dirty="0"/>
          </a:p>
        </p:txBody>
      </p:sp>
      <p:sp>
        <p:nvSpPr>
          <p:cNvPr id="39" name="Text 35"/>
          <p:cNvSpPr/>
          <p:nvPr/>
        </p:nvSpPr>
        <p:spPr>
          <a:xfrm>
            <a:off x="5006578" y="3849588"/>
            <a:ext cx="75463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102</a:t>
            </a:r>
            <a:endParaRPr lang="en-US" sz="650" dirty="0"/>
          </a:p>
        </p:txBody>
      </p:sp>
      <p:sp>
        <p:nvSpPr>
          <p:cNvPr id="40" name="Text 36"/>
          <p:cNvSpPr/>
          <p:nvPr/>
        </p:nvSpPr>
        <p:spPr>
          <a:xfrm>
            <a:off x="5934298" y="3849588"/>
            <a:ext cx="75463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80.3</a:t>
            </a:r>
            <a:endParaRPr lang="en-US" sz="650" dirty="0"/>
          </a:p>
        </p:txBody>
      </p:sp>
      <p:sp>
        <p:nvSpPr>
          <p:cNvPr id="41" name="Text 37"/>
          <p:cNvSpPr/>
          <p:nvPr/>
        </p:nvSpPr>
        <p:spPr>
          <a:xfrm>
            <a:off x="6862018" y="3849588"/>
            <a:ext cx="525066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b="1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+21.7</a:t>
            </a:r>
            <a:endParaRPr lang="en-US" sz="650" dirty="0"/>
          </a:p>
        </p:txBody>
      </p:sp>
      <p:sp>
        <p:nvSpPr>
          <p:cNvPr id="42" name="Shape 38"/>
          <p:cNvSpPr/>
          <p:nvPr/>
        </p:nvSpPr>
        <p:spPr>
          <a:xfrm>
            <a:off x="1672754" y="3996333"/>
            <a:ext cx="5798493" cy="1814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3" name="Text 39"/>
          <p:cNvSpPr/>
          <p:nvPr/>
        </p:nvSpPr>
        <p:spPr>
          <a:xfrm>
            <a:off x="1757214" y="4031010"/>
            <a:ext cx="872951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Best</a:t>
            </a:r>
            <a:endParaRPr lang="en-US" sz="650" dirty="0"/>
          </a:p>
        </p:txBody>
      </p:sp>
      <p:sp>
        <p:nvSpPr>
          <p:cNvPr id="44" name="Text 40"/>
          <p:cNvSpPr/>
          <p:nvPr/>
        </p:nvSpPr>
        <p:spPr>
          <a:xfrm>
            <a:off x="2803252" y="4031010"/>
            <a:ext cx="1102519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Fenerbahçe</a:t>
            </a:r>
            <a:endParaRPr lang="en-US" sz="650" dirty="0"/>
          </a:p>
        </p:txBody>
      </p:sp>
      <p:sp>
        <p:nvSpPr>
          <p:cNvPr id="45" name="Text 41"/>
          <p:cNvSpPr/>
          <p:nvPr/>
        </p:nvSpPr>
        <p:spPr>
          <a:xfrm>
            <a:off x="4078858" y="4031010"/>
            <a:ext cx="75463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2023-24</a:t>
            </a:r>
            <a:endParaRPr lang="en-US" sz="650" dirty="0"/>
          </a:p>
        </p:txBody>
      </p:sp>
      <p:sp>
        <p:nvSpPr>
          <p:cNvPr id="46" name="Text 42"/>
          <p:cNvSpPr/>
          <p:nvPr/>
        </p:nvSpPr>
        <p:spPr>
          <a:xfrm>
            <a:off x="5006578" y="4031010"/>
            <a:ext cx="75463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99</a:t>
            </a:r>
            <a:endParaRPr lang="en-US" sz="650" dirty="0"/>
          </a:p>
        </p:txBody>
      </p:sp>
      <p:sp>
        <p:nvSpPr>
          <p:cNvPr id="47" name="Text 43"/>
          <p:cNvSpPr/>
          <p:nvPr/>
        </p:nvSpPr>
        <p:spPr>
          <a:xfrm>
            <a:off x="5934298" y="4031010"/>
            <a:ext cx="75463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77.4</a:t>
            </a:r>
            <a:endParaRPr lang="en-US" sz="650" dirty="0"/>
          </a:p>
        </p:txBody>
      </p:sp>
      <p:sp>
        <p:nvSpPr>
          <p:cNvPr id="48" name="Text 44"/>
          <p:cNvSpPr/>
          <p:nvPr/>
        </p:nvSpPr>
        <p:spPr>
          <a:xfrm>
            <a:off x="6862018" y="4031010"/>
            <a:ext cx="525066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b="1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+21.6</a:t>
            </a:r>
            <a:endParaRPr lang="en-US" sz="650" dirty="0"/>
          </a:p>
        </p:txBody>
      </p:sp>
      <p:sp>
        <p:nvSpPr>
          <p:cNvPr id="49" name="Shape 45"/>
          <p:cNvSpPr/>
          <p:nvPr/>
        </p:nvSpPr>
        <p:spPr>
          <a:xfrm>
            <a:off x="1672754" y="4177754"/>
            <a:ext cx="5798493" cy="1814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0" name="Text 46"/>
          <p:cNvSpPr/>
          <p:nvPr/>
        </p:nvSpPr>
        <p:spPr>
          <a:xfrm>
            <a:off x="1757214" y="4212431"/>
            <a:ext cx="872951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Best</a:t>
            </a:r>
            <a:endParaRPr lang="en-US" sz="650" dirty="0"/>
          </a:p>
        </p:txBody>
      </p:sp>
      <p:sp>
        <p:nvSpPr>
          <p:cNvPr id="51" name="Text 47"/>
          <p:cNvSpPr/>
          <p:nvPr/>
        </p:nvSpPr>
        <p:spPr>
          <a:xfrm>
            <a:off x="2803252" y="4212431"/>
            <a:ext cx="1102519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Samsunspor</a:t>
            </a:r>
            <a:endParaRPr lang="en-US" sz="650" dirty="0"/>
          </a:p>
        </p:txBody>
      </p:sp>
      <p:sp>
        <p:nvSpPr>
          <p:cNvPr id="52" name="Text 48"/>
          <p:cNvSpPr/>
          <p:nvPr/>
        </p:nvSpPr>
        <p:spPr>
          <a:xfrm>
            <a:off x="4078858" y="4212431"/>
            <a:ext cx="75463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2024-25</a:t>
            </a:r>
            <a:endParaRPr lang="en-US" sz="650" dirty="0"/>
          </a:p>
        </p:txBody>
      </p:sp>
      <p:sp>
        <p:nvSpPr>
          <p:cNvPr id="53" name="Text 49"/>
          <p:cNvSpPr/>
          <p:nvPr/>
        </p:nvSpPr>
        <p:spPr>
          <a:xfrm>
            <a:off x="5006578" y="4212431"/>
            <a:ext cx="75463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64</a:t>
            </a:r>
            <a:endParaRPr lang="en-US" sz="650" dirty="0"/>
          </a:p>
        </p:txBody>
      </p:sp>
      <p:sp>
        <p:nvSpPr>
          <p:cNvPr id="54" name="Text 50"/>
          <p:cNvSpPr/>
          <p:nvPr/>
        </p:nvSpPr>
        <p:spPr>
          <a:xfrm>
            <a:off x="5934298" y="4212431"/>
            <a:ext cx="75463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43</a:t>
            </a:r>
            <a:endParaRPr lang="en-US" sz="650" dirty="0"/>
          </a:p>
        </p:txBody>
      </p:sp>
      <p:sp>
        <p:nvSpPr>
          <p:cNvPr id="55" name="Text 51"/>
          <p:cNvSpPr/>
          <p:nvPr/>
        </p:nvSpPr>
        <p:spPr>
          <a:xfrm>
            <a:off x="6862018" y="4212431"/>
            <a:ext cx="525066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b="1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+21.0</a:t>
            </a:r>
            <a:endParaRPr lang="en-US" sz="650" dirty="0"/>
          </a:p>
        </p:txBody>
      </p:sp>
      <p:sp>
        <p:nvSpPr>
          <p:cNvPr id="56" name="Shape 52"/>
          <p:cNvSpPr/>
          <p:nvPr/>
        </p:nvSpPr>
        <p:spPr>
          <a:xfrm>
            <a:off x="1672754" y="4359176"/>
            <a:ext cx="5798493" cy="1814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7" name="Text 53"/>
          <p:cNvSpPr/>
          <p:nvPr/>
        </p:nvSpPr>
        <p:spPr>
          <a:xfrm>
            <a:off x="1757214" y="4393853"/>
            <a:ext cx="872951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❌</a:t>
            </a: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Worst</a:t>
            </a:r>
            <a:endParaRPr lang="en-US" sz="650" dirty="0"/>
          </a:p>
        </p:txBody>
      </p:sp>
      <p:sp>
        <p:nvSpPr>
          <p:cNvPr id="58" name="Text 54"/>
          <p:cNvSpPr/>
          <p:nvPr/>
        </p:nvSpPr>
        <p:spPr>
          <a:xfrm>
            <a:off x="2803252" y="4393853"/>
            <a:ext cx="1102519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Adana Demirspor</a:t>
            </a:r>
            <a:endParaRPr lang="en-US" sz="650" dirty="0"/>
          </a:p>
        </p:txBody>
      </p:sp>
      <p:sp>
        <p:nvSpPr>
          <p:cNvPr id="59" name="Text 55"/>
          <p:cNvSpPr/>
          <p:nvPr/>
        </p:nvSpPr>
        <p:spPr>
          <a:xfrm>
            <a:off x="4078858" y="4393853"/>
            <a:ext cx="75463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2024-25</a:t>
            </a:r>
            <a:endParaRPr lang="en-US" sz="650" dirty="0"/>
          </a:p>
        </p:txBody>
      </p:sp>
      <p:sp>
        <p:nvSpPr>
          <p:cNvPr id="60" name="Text 56"/>
          <p:cNvSpPr/>
          <p:nvPr/>
        </p:nvSpPr>
        <p:spPr>
          <a:xfrm>
            <a:off x="5006578" y="4393853"/>
            <a:ext cx="75463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650" dirty="0"/>
          </a:p>
        </p:txBody>
      </p:sp>
      <p:sp>
        <p:nvSpPr>
          <p:cNvPr id="61" name="Text 57"/>
          <p:cNvSpPr/>
          <p:nvPr/>
        </p:nvSpPr>
        <p:spPr>
          <a:xfrm>
            <a:off x="5934298" y="4393853"/>
            <a:ext cx="75463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33.5</a:t>
            </a:r>
            <a:endParaRPr lang="en-US" sz="650" dirty="0"/>
          </a:p>
        </p:txBody>
      </p:sp>
      <p:sp>
        <p:nvSpPr>
          <p:cNvPr id="62" name="Text 58"/>
          <p:cNvSpPr/>
          <p:nvPr/>
        </p:nvSpPr>
        <p:spPr>
          <a:xfrm>
            <a:off x="6862018" y="4393853"/>
            <a:ext cx="525066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-31.5</a:t>
            </a:r>
            <a:endParaRPr lang="en-US" sz="650" dirty="0"/>
          </a:p>
        </p:txBody>
      </p:sp>
      <p:sp>
        <p:nvSpPr>
          <p:cNvPr id="63" name="Shape 59"/>
          <p:cNvSpPr/>
          <p:nvPr/>
        </p:nvSpPr>
        <p:spPr>
          <a:xfrm>
            <a:off x="1672754" y="4540597"/>
            <a:ext cx="5798493" cy="1814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4" name="Text 60"/>
          <p:cNvSpPr/>
          <p:nvPr/>
        </p:nvSpPr>
        <p:spPr>
          <a:xfrm>
            <a:off x="1757214" y="4575274"/>
            <a:ext cx="872951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❌</a:t>
            </a: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Worst</a:t>
            </a:r>
            <a:endParaRPr lang="en-US" sz="650" dirty="0"/>
          </a:p>
        </p:txBody>
      </p:sp>
      <p:sp>
        <p:nvSpPr>
          <p:cNvPr id="65" name="Text 61"/>
          <p:cNvSpPr/>
          <p:nvPr/>
        </p:nvSpPr>
        <p:spPr>
          <a:xfrm>
            <a:off x="2803252" y="4575274"/>
            <a:ext cx="1102519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Beşiktaş</a:t>
            </a:r>
            <a:endParaRPr lang="en-US" sz="650" dirty="0"/>
          </a:p>
        </p:txBody>
      </p:sp>
      <p:sp>
        <p:nvSpPr>
          <p:cNvPr id="66" name="Text 62"/>
          <p:cNvSpPr/>
          <p:nvPr/>
        </p:nvSpPr>
        <p:spPr>
          <a:xfrm>
            <a:off x="4078858" y="4575274"/>
            <a:ext cx="75463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2025-26</a:t>
            </a:r>
            <a:endParaRPr lang="en-US" sz="650" dirty="0"/>
          </a:p>
        </p:txBody>
      </p:sp>
      <p:sp>
        <p:nvSpPr>
          <p:cNvPr id="67" name="Text 63"/>
          <p:cNvSpPr/>
          <p:nvPr/>
        </p:nvSpPr>
        <p:spPr>
          <a:xfrm>
            <a:off x="5006578" y="4575274"/>
            <a:ext cx="75463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59</a:t>
            </a:r>
            <a:endParaRPr lang="en-US" sz="650" dirty="0"/>
          </a:p>
        </p:txBody>
      </p:sp>
      <p:sp>
        <p:nvSpPr>
          <p:cNvPr id="68" name="Text 64"/>
          <p:cNvSpPr/>
          <p:nvPr/>
        </p:nvSpPr>
        <p:spPr>
          <a:xfrm>
            <a:off x="5934298" y="4575274"/>
            <a:ext cx="75463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74.4</a:t>
            </a:r>
            <a:endParaRPr lang="en-US" sz="650" dirty="0"/>
          </a:p>
        </p:txBody>
      </p:sp>
      <p:sp>
        <p:nvSpPr>
          <p:cNvPr id="69" name="Text 65"/>
          <p:cNvSpPr/>
          <p:nvPr/>
        </p:nvSpPr>
        <p:spPr>
          <a:xfrm>
            <a:off x="6862018" y="4575274"/>
            <a:ext cx="525066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-15.4</a:t>
            </a:r>
            <a:endParaRPr lang="en-US" sz="650" dirty="0"/>
          </a:p>
        </p:txBody>
      </p:sp>
      <p:sp>
        <p:nvSpPr>
          <p:cNvPr id="70" name="Shape 66"/>
          <p:cNvSpPr/>
          <p:nvPr/>
        </p:nvSpPr>
        <p:spPr>
          <a:xfrm>
            <a:off x="1672754" y="4722019"/>
            <a:ext cx="5798493" cy="1814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1" name="Text 67"/>
          <p:cNvSpPr/>
          <p:nvPr/>
        </p:nvSpPr>
        <p:spPr>
          <a:xfrm>
            <a:off x="1757214" y="4756696"/>
            <a:ext cx="872951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❌</a:t>
            </a: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Worst</a:t>
            </a:r>
            <a:endParaRPr lang="en-US" sz="650" dirty="0"/>
          </a:p>
        </p:txBody>
      </p:sp>
      <p:sp>
        <p:nvSpPr>
          <p:cNvPr id="72" name="Text 68"/>
          <p:cNvSpPr/>
          <p:nvPr/>
        </p:nvSpPr>
        <p:spPr>
          <a:xfrm>
            <a:off x="2803252" y="4756696"/>
            <a:ext cx="1102519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Trabzonspor</a:t>
            </a:r>
            <a:endParaRPr lang="en-US" sz="650" dirty="0"/>
          </a:p>
        </p:txBody>
      </p:sp>
      <p:sp>
        <p:nvSpPr>
          <p:cNvPr id="73" name="Text 69"/>
          <p:cNvSpPr/>
          <p:nvPr/>
        </p:nvSpPr>
        <p:spPr>
          <a:xfrm>
            <a:off x="4078858" y="4756696"/>
            <a:ext cx="75463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2024-25</a:t>
            </a:r>
            <a:endParaRPr lang="en-US" sz="650" dirty="0"/>
          </a:p>
        </p:txBody>
      </p:sp>
      <p:sp>
        <p:nvSpPr>
          <p:cNvPr id="74" name="Text 70"/>
          <p:cNvSpPr/>
          <p:nvPr/>
        </p:nvSpPr>
        <p:spPr>
          <a:xfrm>
            <a:off x="5006578" y="4756696"/>
            <a:ext cx="75463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51</a:t>
            </a:r>
            <a:endParaRPr lang="en-US" sz="650" dirty="0"/>
          </a:p>
        </p:txBody>
      </p:sp>
      <p:sp>
        <p:nvSpPr>
          <p:cNvPr id="75" name="Text 71"/>
          <p:cNvSpPr/>
          <p:nvPr/>
        </p:nvSpPr>
        <p:spPr>
          <a:xfrm>
            <a:off x="5934298" y="4756696"/>
            <a:ext cx="75463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66.1</a:t>
            </a:r>
            <a:endParaRPr lang="en-US" sz="650" dirty="0"/>
          </a:p>
        </p:txBody>
      </p:sp>
      <p:sp>
        <p:nvSpPr>
          <p:cNvPr id="76" name="Text 72"/>
          <p:cNvSpPr/>
          <p:nvPr/>
        </p:nvSpPr>
        <p:spPr>
          <a:xfrm>
            <a:off x="6862018" y="4756696"/>
            <a:ext cx="525066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-15.1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50107" y="239316"/>
            <a:ext cx="566440" cy="124197"/>
          </a:xfrm>
          <a:prstGeom prst="roundRect">
            <a:avLst>
              <a:gd name="adj" fmla="val 7063"/>
            </a:avLst>
          </a:prstGeom>
          <a:noFill/>
          <a:ln w="4763">
            <a:solidFill>
              <a:srgbClr val="325F7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098700" y="265956"/>
            <a:ext cx="469255" cy="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45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PLAYER ANALYSIS A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2050107" y="378544"/>
            <a:ext cx="2502471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Forward Spending vs. Goals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050107" y="663476"/>
            <a:ext cx="5043785" cy="303386"/>
          </a:xfrm>
          <a:prstGeom prst="roundRect">
            <a:avLst>
              <a:gd name="adj" fmla="val 3614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182" y="757461"/>
            <a:ext cx="91306" cy="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7563" y="719361"/>
            <a:ext cx="4733255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Critical Finding:</a:t>
            </a:r>
            <a:r>
              <a:rPr lang="en-US" sz="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Correlation between forward wage spending and goals scored: </a:t>
            </a:r>
            <a:r>
              <a:rPr lang="en-US" sz="5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 = −0.12 (NEGATIVE)</a:t>
            </a:r>
            <a:r>
              <a:rPr lang="en-US" sz="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Expensive attacking squads do NOT guarantee high goal tallies.</a:t>
            </a:r>
            <a:endParaRPr lang="en-US" sz="5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0107" y="1009204"/>
            <a:ext cx="3472160" cy="20832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50107" y="3148980"/>
            <a:ext cx="2472035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Top 10 Clubs by Goals per Million EUR (Forward Wages)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2050107" y="3319686"/>
            <a:ext cx="5043785" cy="1584424"/>
          </a:xfrm>
          <a:prstGeom prst="roundRect">
            <a:avLst>
              <a:gd name="adj" fmla="val 69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7"/>
          <p:cNvSpPr/>
          <p:nvPr/>
        </p:nvSpPr>
        <p:spPr>
          <a:xfrm>
            <a:off x="2054870" y="3324448"/>
            <a:ext cx="5034260" cy="1431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8"/>
          <p:cNvSpPr/>
          <p:nvPr/>
        </p:nvSpPr>
        <p:spPr>
          <a:xfrm>
            <a:off x="2128093" y="3351758"/>
            <a:ext cx="858292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Club</a:t>
            </a:r>
            <a:endParaRPr lang="en-US" sz="550" dirty="0"/>
          </a:p>
        </p:txBody>
      </p:sp>
      <p:sp>
        <p:nvSpPr>
          <p:cNvPr id="13" name="Text 9"/>
          <p:cNvSpPr/>
          <p:nvPr/>
        </p:nvSpPr>
        <p:spPr>
          <a:xfrm>
            <a:off x="3137297" y="3351758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Season</a:t>
            </a:r>
            <a:endParaRPr lang="en-US" sz="550" dirty="0"/>
          </a:p>
        </p:txBody>
      </p:sp>
      <p:sp>
        <p:nvSpPr>
          <p:cNvPr id="14" name="Text 10"/>
          <p:cNvSpPr/>
          <p:nvPr/>
        </p:nvSpPr>
        <p:spPr>
          <a:xfrm>
            <a:off x="4144119" y="3351758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Fwd. Wage</a:t>
            </a:r>
            <a:endParaRPr lang="en-US" sz="550" dirty="0"/>
          </a:p>
        </p:txBody>
      </p:sp>
      <p:sp>
        <p:nvSpPr>
          <p:cNvPr id="15" name="Text 11"/>
          <p:cNvSpPr/>
          <p:nvPr/>
        </p:nvSpPr>
        <p:spPr>
          <a:xfrm>
            <a:off x="5150941" y="3351758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Goals</a:t>
            </a:r>
            <a:endParaRPr lang="en-US" sz="550" dirty="0"/>
          </a:p>
        </p:txBody>
      </p:sp>
      <p:sp>
        <p:nvSpPr>
          <p:cNvPr id="16" name="Text 12"/>
          <p:cNvSpPr/>
          <p:nvPr/>
        </p:nvSpPr>
        <p:spPr>
          <a:xfrm>
            <a:off x="6157764" y="3351758"/>
            <a:ext cx="858292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Goals/M EUR</a:t>
            </a:r>
            <a:endParaRPr lang="en-US" sz="550" dirty="0"/>
          </a:p>
        </p:txBody>
      </p:sp>
      <p:sp>
        <p:nvSpPr>
          <p:cNvPr id="17" name="Shape 13"/>
          <p:cNvSpPr/>
          <p:nvPr/>
        </p:nvSpPr>
        <p:spPr>
          <a:xfrm>
            <a:off x="2054870" y="3467621"/>
            <a:ext cx="5034260" cy="1431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4"/>
          <p:cNvSpPr/>
          <p:nvPr/>
        </p:nvSpPr>
        <p:spPr>
          <a:xfrm>
            <a:off x="2128093" y="3494931"/>
            <a:ext cx="858292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Sivasspor</a:t>
            </a:r>
            <a:endParaRPr lang="en-US" sz="550" dirty="0"/>
          </a:p>
        </p:txBody>
      </p:sp>
      <p:sp>
        <p:nvSpPr>
          <p:cNvPr id="19" name="Text 15"/>
          <p:cNvSpPr/>
          <p:nvPr/>
        </p:nvSpPr>
        <p:spPr>
          <a:xfrm>
            <a:off x="3137297" y="3494931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2023-24</a:t>
            </a:r>
            <a:endParaRPr lang="en-US" sz="550" dirty="0"/>
          </a:p>
        </p:txBody>
      </p:sp>
      <p:sp>
        <p:nvSpPr>
          <p:cNvPr id="20" name="Text 16"/>
          <p:cNvSpPr/>
          <p:nvPr/>
        </p:nvSpPr>
        <p:spPr>
          <a:xfrm>
            <a:off x="4144119" y="3494931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€2.17M</a:t>
            </a:r>
            <a:endParaRPr lang="en-US" sz="550" dirty="0"/>
          </a:p>
        </p:txBody>
      </p:sp>
      <p:sp>
        <p:nvSpPr>
          <p:cNvPr id="21" name="Text 17"/>
          <p:cNvSpPr/>
          <p:nvPr/>
        </p:nvSpPr>
        <p:spPr>
          <a:xfrm>
            <a:off x="5150941" y="3494931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39</a:t>
            </a:r>
            <a:endParaRPr lang="en-US" sz="550" dirty="0"/>
          </a:p>
        </p:txBody>
      </p:sp>
      <p:sp>
        <p:nvSpPr>
          <p:cNvPr id="22" name="Text 18"/>
          <p:cNvSpPr/>
          <p:nvPr/>
        </p:nvSpPr>
        <p:spPr>
          <a:xfrm>
            <a:off x="6157764" y="3494931"/>
            <a:ext cx="858292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17.96</a:t>
            </a:r>
            <a:endParaRPr lang="en-US" sz="550" dirty="0"/>
          </a:p>
        </p:txBody>
      </p:sp>
      <p:sp>
        <p:nvSpPr>
          <p:cNvPr id="23" name="Shape 19"/>
          <p:cNvSpPr/>
          <p:nvPr/>
        </p:nvSpPr>
        <p:spPr>
          <a:xfrm>
            <a:off x="2054870" y="3610794"/>
            <a:ext cx="5034260" cy="1431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0"/>
          <p:cNvSpPr/>
          <p:nvPr/>
        </p:nvSpPr>
        <p:spPr>
          <a:xfrm>
            <a:off x="2128093" y="3638104"/>
            <a:ext cx="858292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Fatih Karagümrük</a:t>
            </a:r>
            <a:endParaRPr lang="en-US" sz="550" dirty="0"/>
          </a:p>
        </p:txBody>
      </p:sp>
      <p:sp>
        <p:nvSpPr>
          <p:cNvPr id="25" name="Text 21"/>
          <p:cNvSpPr/>
          <p:nvPr/>
        </p:nvSpPr>
        <p:spPr>
          <a:xfrm>
            <a:off x="3137297" y="3638104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2023-24</a:t>
            </a:r>
            <a:endParaRPr lang="en-US" sz="550" dirty="0"/>
          </a:p>
        </p:txBody>
      </p:sp>
      <p:sp>
        <p:nvSpPr>
          <p:cNvPr id="26" name="Text 22"/>
          <p:cNvSpPr/>
          <p:nvPr/>
        </p:nvSpPr>
        <p:spPr>
          <a:xfrm>
            <a:off x="4144119" y="3638104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€2.41M</a:t>
            </a:r>
            <a:endParaRPr lang="en-US" sz="550" dirty="0"/>
          </a:p>
        </p:txBody>
      </p:sp>
      <p:sp>
        <p:nvSpPr>
          <p:cNvPr id="27" name="Text 23"/>
          <p:cNvSpPr/>
          <p:nvPr/>
        </p:nvSpPr>
        <p:spPr>
          <a:xfrm>
            <a:off x="5150941" y="3638104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38</a:t>
            </a:r>
            <a:endParaRPr lang="en-US" sz="550" dirty="0"/>
          </a:p>
        </p:txBody>
      </p:sp>
      <p:sp>
        <p:nvSpPr>
          <p:cNvPr id="28" name="Text 24"/>
          <p:cNvSpPr/>
          <p:nvPr/>
        </p:nvSpPr>
        <p:spPr>
          <a:xfrm>
            <a:off x="6157764" y="3638104"/>
            <a:ext cx="858292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15.74</a:t>
            </a:r>
            <a:endParaRPr lang="en-US" sz="550" dirty="0"/>
          </a:p>
        </p:txBody>
      </p:sp>
      <p:sp>
        <p:nvSpPr>
          <p:cNvPr id="29" name="Shape 25"/>
          <p:cNvSpPr/>
          <p:nvPr/>
        </p:nvSpPr>
        <p:spPr>
          <a:xfrm>
            <a:off x="2054870" y="3753966"/>
            <a:ext cx="5034260" cy="1431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6"/>
          <p:cNvSpPr/>
          <p:nvPr/>
        </p:nvSpPr>
        <p:spPr>
          <a:xfrm>
            <a:off x="2128093" y="3781276"/>
            <a:ext cx="858292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Kasımpaşa</a:t>
            </a:r>
            <a:endParaRPr lang="en-US" sz="550" dirty="0"/>
          </a:p>
        </p:txBody>
      </p:sp>
      <p:sp>
        <p:nvSpPr>
          <p:cNvPr id="31" name="Text 27"/>
          <p:cNvSpPr/>
          <p:nvPr/>
        </p:nvSpPr>
        <p:spPr>
          <a:xfrm>
            <a:off x="3137297" y="3781276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2023-24</a:t>
            </a:r>
            <a:endParaRPr lang="en-US" sz="550" dirty="0"/>
          </a:p>
        </p:txBody>
      </p:sp>
      <p:sp>
        <p:nvSpPr>
          <p:cNvPr id="32" name="Text 28"/>
          <p:cNvSpPr/>
          <p:nvPr/>
        </p:nvSpPr>
        <p:spPr>
          <a:xfrm>
            <a:off x="4144119" y="3781276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€2.45M</a:t>
            </a:r>
            <a:endParaRPr lang="en-US" sz="550" dirty="0"/>
          </a:p>
        </p:txBody>
      </p:sp>
      <p:sp>
        <p:nvSpPr>
          <p:cNvPr id="33" name="Text 29"/>
          <p:cNvSpPr/>
          <p:nvPr/>
        </p:nvSpPr>
        <p:spPr>
          <a:xfrm>
            <a:off x="5150941" y="3781276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35</a:t>
            </a:r>
            <a:endParaRPr lang="en-US" sz="550" dirty="0"/>
          </a:p>
        </p:txBody>
      </p:sp>
      <p:sp>
        <p:nvSpPr>
          <p:cNvPr id="34" name="Text 30"/>
          <p:cNvSpPr/>
          <p:nvPr/>
        </p:nvSpPr>
        <p:spPr>
          <a:xfrm>
            <a:off x="6157764" y="3781276"/>
            <a:ext cx="858292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14.27</a:t>
            </a:r>
            <a:endParaRPr lang="en-US" sz="550" dirty="0"/>
          </a:p>
        </p:txBody>
      </p:sp>
      <p:sp>
        <p:nvSpPr>
          <p:cNvPr id="35" name="Shape 31"/>
          <p:cNvSpPr/>
          <p:nvPr/>
        </p:nvSpPr>
        <p:spPr>
          <a:xfrm>
            <a:off x="2054870" y="3897139"/>
            <a:ext cx="5034260" cy="1431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Text 32"/>
          <p:cNvSpPr/>
          <p:nvPr/>
        </p:nvSpPr>
        <p:spPr>
          <a:xfrm>
            <a:off x="2128093" y="3924449"/>
            <a:ext cx="858292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Antalyaspor</a:t>
            </a:r>
            <a:endParaRPr lang="en-US" sz="550" dirty="0"/>
          </a:p>
        </p:txBody>
      </p:sp>
      <p:sp>
        <p:nvSpPr>
          <p:cNvPr id="37" name="Text 33"/>
          <p:cNvSpPr/>
          <p:nvPr/>
        </p:nvSpPr>
        <p:spPr>
          <a:xfrm>
            <a:off x="3137297" y="3924449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2023-24</a:t>
            </a:r>
            <a:endParaRPr lang="en-US" sz="550" dirty="0"/>
          </a:p>
        </p:txBody>
      </p:sp>
      <p:sp>
        <p:nvSpPr>
          <p:cNvPr id="38" name="Text 34"/>
          <p:cNvSpPr/>
          <p:nvPr/>
        </p:nvSpPr>
        <p:spPr>
          <a:xfrm>
            <a:off x="4144119" y="3924449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€2.26M</a:t>
            </a:r>
            <a:endParaRPr lang="en-US" sz="550" dirty="0"/>
          </a:p>
        </p:txBody>
      </p:sp>
      <p:sp>
        <p:nvSpPr>
          <p:cNvPr id="39" name="Text 35"/>
          <p:cNvSpPr/>
          <p:nvPr/>
        </p:nvSpPr>
        <p:spPr>
          <a:xfrm>
            <a:off x="5150941" y="3924449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32</a:t>
            </a:r>
            <a:endParaRPr lang="en-US" sz="550" dirty="0"/>
          </a:p>
        </p:txBody>
      </p:sp>
      <p:sp>
        <p:nvSpPr>
          <p:cNvPr id="40" name="Text 36"/>
          <p:cNvSpPr/>
          <p:nvPr/>
        </p:nvSpPr>
        <p:spPr>
          <a:xfrm>
            <a:off x="6157764" y="3924449"/>
            <a:ext cx="858292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14.16</a:t>
            </a:r>
            <a:endParaRPr lang="en-US" sz="550" dirty="0"/>
          </a:p>
        </p:txBody>
      </p:sp>
      <p:sp>
        <p:nvSpPr>
          <p:cNvPr id="41" name="Shape 37"/>
          <p:cNvSpPr/>
          <p:nvPr/>
        </p:nvSpPr>
        <p:spPr>
          <a:xfrm>
            <a:off x="2054870" y="4040312"/>
            <a:ext cx="5034260" cy="1431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2" name="Text 38"/>
          <p:cNvSpPr/>
          <p:nvPr/>
        </p:nvSpPr>
        <p:spPr>
          <a:xfrm>
            <a:off x="2128093" y="4067621"/>
            <a:ext cx="858292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Kayserispor</a:t>
            </a:r>
            <a:endParaRPr lang="en-US" sz="550" dirty="0"/>
          </a:p>
        </p:txBody>
      </p:sp>
      <p:sp>
        <p:nvSpPr>
          <p:cNvPr id="43" name="Text 39"/>
          <p:cNvSpPr/>
          <p:nvPr/>
        </p:nvSpPr>
        <p:spPr>
          <a:xfrm>
            <a:off x="3137297" y="4067621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2023-24</a:t>
            </a:r>
            <a:endParaRPr lang="en-US" sz="550" dirty="0"/>
          </a:p>
        </p:txBody>
      </p:sp>
      <p:sp>
        <p:nvSpPr>
          <p:cNvPr id="44" name="Text 40"/>
          <p:cNvSpPr/>
          <p:nvPr/>
        </p:nvSpPr>
        <p:spPr>
          <a:xfrm>
            <a:off x="4144119" y="4067621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€2.20M</a:t>
            </a:r>
            <a:endParaRPr lang="en-US" sz="550" dirty="0"/>
          </a:p>
        </p:txBody>
      </p:sp>
      <p:sp>
        <p:nvSpPr>
          <p:cNvPr id="45" name="Text 41"/>
          <p:cNvSpPr/>
          <p:nvPr/>
        </p:nvSpPr>
        <p:spPr>
          <a:xfrm>
            <a:off x="5150941" y="4067621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31</a:t>
            </a:r>
            <a:endParaRPr lang="en-US" sz="550" dirty="0"/>
          </a:p>
        </p:txBody>
      </p:sp>
      <p:sp>
        <p:nvSpPr>
          <p:cNvPr id="46" name="Text 42"/>
          <p:cNvSpPr/>
          <p:nvPr/>
        </p:nvSpPr>
        <p:spPr>
          <a:xfrm>
            <a:off x="6157764" y="4067621"/>
            <a:ext cx="858292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14.09</a:t>
            </a:r>
            <a:endParaRPr lang="en-US" sz="550" dirty="0"/>
          </a:p>
        </p:txBody>
      </p:sp>
      <p:sp>
        <p:nvSpPr>
          <p:cNvPr id="47" name="Shape 43"/>
          <p:cNvSpPr/>
          <p:nvPr/>
        </p:nvSpPr>
        <p:spPr>
          <a:xfrm>
            <a:off x="2054870" y="4183484"/>
            <a:ext cx="5034260" cy="1431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8" name="Text 44"/>
          <p:cNvSpPr/>
          <p:nvPr/>
        </p:nvSpPr>
        <p:spPr>
          <a:xfrm>
            <a:off x="2128093" y="4210794"/>
            <a:ext cx="858292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İstanbulspor</a:t>
            </a:r>
            <a:endParaRPr lang="en-US" sz="550" dirty="0"/>
          </a:p>
        </p:txBody>
      </p:sp>
      <p:sp>
        <p:nvSpPr>
          <p:cNvPr id="49" name="Text 45"/>
          <p:cNvSpPr/>
          <p:nvPr/>
        </p:nvSpPr>
        <p:spPr>
          <a:xfrm>
            <a:off x="3137297" y="4210794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2023-24</a:t>
            </a:r>
            <a:endParaRPr lang="en-US" sz="550" dirty="0"/>
          </a:p>
        </p:txBody>
      </p:sp>
      <p:sp>
        <p:nvSpPr>
          <p:cNvPr id="50" name="Text 46"/>
          <p:cNvSpPr/>
          <p:nvPr/>
        </p:nvSpPr>
        <p:spPr>
          <a:xfrm>
            <a:off x="4144119" y="4210794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€1.15M</a:t>
            </a:r>
            <a:endParaRPr lang="en-US" sz="550" dirty="0"/>
          </a:p>
        </p:txBody>
      </p:sp>
      <p:sp>
        <p:nvSpPr>
          <p:cNvPr id="51" name="Text 47"/>
          <p:cNvSpPr/>
          <p:nvPr/>
        </p:nvSpPr>
        <p:spPr>
          <a:xfrm>
            <a:off x="5150941" y="4210794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16</a:t>
            </a:r>
            <a:endParaRPr lang="en-US" sz="550" dirty="0"/>
          </a:p>
        </p:txBody>
      </p:sp>
      <p:sp>
        <p:nvSpPr>
          <p:cNvPr id="52" name="Text 48"/>
          <p:cNvSpPr/>
          <p:nvPr/>
        </p:nvSpPr>
        <p:spPr>
          <a:xfrm>
            <a:off x="6157764" y="4210794"/>
            <a:ext cx="858292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13.89</a:t>
            </a:r>
            <a:endParaRPr lang="en-US" sz="550" dirty="0"/>
          </a:p>
        </p:txBody>
      </p:sp>
      <p:sp>
        <p:nvSpPr>
          <p:cNvPr id="53" name="Shape 49"/>
          <p:cNvSpPr/>
          <p:nvPr/>
        </p:nvSpPr>
        <p:spPr>
          <a:xfrm>
            <a:off x="2054870" y="4326657"/>
            <a:ext cx="5034260" cy="1431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4" name="Text 50"/>
          <p:cNvSpPr/>
          <p:nvPr/>
        </p:nvSpPr>
        <p:spPr>
          <a:xfrm>
            <a:off x="2128093" y="4353967"/>
            <a:ext cx="858292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Alanyaspor</a:t>
            </a:r>
            <a:endParaRPr lang="en-US" sz="550" dirty="0"/>
          </a:p>
        </p:txBody>
      </p:sp>
      <p:sp>
        <p:nvSpPr>
          <p:cNvPr id="55" name="Text 51"/>
          <p:cNvSpPr/>
          <p:nvPr/>
        </p:nvSpPr>
        <p:spPr>
          <a:xfrm>
            <a:off x="3137297" y="4353967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2023-24</a:t>
            </a:r>
            <a:endParaRPr lang="en-US" sz="550" dirty="0"/>
          </a:p>
        </p:txBody>
      </p:sp>
      <p:sp>
        <p:nvSpPr>
          <p:cNvPr id="56" name="Text 52"/>
          <p:cNvSpPr/>
          <p:nvPr/>
        </p:nvSpPr>
        <p:spPr>
          <a:xfrm>
            <a:off x="4144119" y="4353967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€2.46M</a:t>
            </a:r>
            <a:endParaRPr lang="en-US" sz="550" dirty="0"/>
          </a:p>
        </p:txBody>
      </p:sp>
      <p:sp>
        <p:nvSpPr>
          <p:cNvPr id="57" name="Text 53"/>
          <p:cNvSpPr/>
          <p:nvPr/>
        </p:nvSpPr>
        <p:spPr>
          <a:xfrm>
            <a:off x="5150941" y="4353967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33</a:t>
            </a:r>
            <a:endParaRPr lang="en-US" sz="550" dirty="0"/>
          </a:p>
        </p:txBody>
      </p:sp>
      <p:sp>
        <p:nvSpPr>
          <p:cNvPr id="58" name="Text 54"/>
          <p:cNvSpPr/>
          <p:nvPr/>
        </p:nvSpPr>
        <p:spPr>
          <a:xfrm>
            <a:off x="6157764" y="4353967"/>
            <a:ext cx="858292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13.41</a:t>
            </a:r>
            <a:endParaRPr lang="en-US" sz="550" dirty="0"/>
          </a:p>
        </p:txBody>
      </p:sp>
      <p:sp>
        <p:nvSpPr>
          <p:cNvPr id="59" name="Shape 55"/>
          <p:cNvSpPr/>
          <p:nvPr/>
        </p:nvSpPr>
        <p:spPr>
          <a:xfrm>
            <a:off x="2054870" y="4469829"/>
            <a:ext cx="5034260" cy="1431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0" name="Text 56"/>
          <p:cNvSpPr/>
          <p:nvPr/>
        </p:nvSpPr>
        <p:spPr>
          <a:xfrm>
            <a:off x="2128093" y="4497139"/>
            <a:ext cx="858292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Pendikspor</a:t>
            </a:r>
            <a:endParaRPr lang="en-US" sz="550" dirty="0"/>
          </a:p>
        </p:txBody>
      </p:sp>
      <p:sp>
        <p:nvSpPr>
          <p:cNvPr id="61" name="Text 57"/>
          <p:cNvSpPr/>
          <p:nvPr/>
        </p:nvSpPr>
        <p:spPr>
          <a:xfrm>
            <a:off x="3137297" y="4497139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2023-24</a:t>
            </a:r>
            <a:endParaRPr lang="en-US" sz="550" dirty="0"/>
          </a:p>
        </p:txBody>
      </p:sp>
      <p:sp>
        <p:nvSpPr>
          <p:cNvPr id="62" name="Text 58"/>
          <p:cNvSpPr/>
          <p:nvPr/>
        </p:nvSpPr>
        <p:spPr>
          <a:xfrm>
            <a:off x="4144119" y="4497139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€2.34M</a:t>
            </a:r>
            <a:endParaRPr lang="en-US" sz="550" dirty="0"/>
          </a:p>
        </p:txBody>
      </p:sp>
      <p:sp>
        <p:nvSpPr>
          <p:cNvPr id="63" name="Text 59"/>
          <p:cNvSpPr/>
          <p:nvPr/>
        </p:nvSpPr>
        <p:spPr>
          <a:xfrm>
            <a:off x="5150941" y="4497139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31</a:t>
            </a:r>
            <a:endParaRPr lang="en-US" sz="550" dirty="0"/>
          </a:p>
        </p:txBody>
      </p:sp>
      <p:sp>
        <p:nvSpPr>
          <p:cNvPr id="64" name="Text 60"/>
          <p:cNvSpPr/>
          <p:nvPr/>
        </p:nvSpPr>
        <p:spPr>
          <a:xfrm>
            <a:off x="6157764" y="4497139"/>
            <a:ext cx="858292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13.26</a:t>
            </a:r>
            <a:endParaRPr lang="en-US" sz="550" dirty="0"/>
          </a:p>
        </p:txBody>
      </p:sp>
      <p:sp>
        <p:nvSpPr>
          <p:cNvPr id="65" name="Shape 61"/>
          <p:cNvSpPr/>
          <p:nvPr/>
        </p:nvSpPr>
        <p:spPr>
          <a:xfrm>
            <a:off x="2054870" y="4613002"/>
            <a:ext cx="5034260" cy="1431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6" name="Text 62"/>
          <p:cNvSpPr/>
          <p:nvPr/>
        </p:nvSpPr>
        <p:spPr>
          <a:xfrm>
            <a:off x="2128093" y="4640312"/>
            <a:ext cx="858292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Çaykur Rizespor</a:t>
            </a:r>
            <a:endParaRPr lang="en-US" sz="550" dirty="0"/>
          </a:p>
        </p:txBody>
      </p:sp>
      <p:sp>
        <p:nvSpPr>
          <p:cNvPr id="67" name="Text 63"/>
          <p:cNvSpPr/>
          <p:nvPr/>
        </p:nvSpPr>
        <p:spPr>
          <a:xfrm>
            <a:off x="3137297" y="4640312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2023-24</a:t>
            </a:r>
            <a:endParaRPr lang="en-US" sz="550" dirty="0"/>
          </a:p>
        </p:txBody>
      </p:sp>
      <p:sp>
        <p:nvSpPr>
          <p:cNvPr id="68" name="Text 64"/>
          <p:cNvSpPr/>
          <p:nvPr/>
        </p:nvSpPr>
        <p:spPr>
          <a:xfrm>
            <a:off x="4144119" y="4640312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€2.50M</a:t>
            </a:r>
            <a:endParaRPr lang="en-US" sz="550" dirty="0"/>
          </a:p>
        </p:txBody>
      </p:sp>
      <p:sp>
        <p:nvSpPr>
          <p:cNvPr id="69" name="Text 65"/>
          <p:cNvSpPr/>
          <p:nvPr/>
        </p:nvSpPr>
        <p:spPr>
          <a:xfrm>
            <a:off x="5150941" y="4640312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32</a:t>
            </a:r>
            <a:endParaRPr lang="en-US" sz="550" dirty="0"/>
          </a:p>
        </p:txBody>
      </p:sp>
      <p:sp>
        <p:nvSpPr>
          <p:cNvPr id="70" name="Text 66"/>
          <p:cNvSpPr/>
          <p:nvPr/>
        </p:nvSpPr>
        <p:spPr>
          <a:xfrm>
            <a:off x="6157764" y="4640312"/>
            <a:ext cx="858292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12.78</a:t>
            </a:r>
            <a:endParaRPr lang="en-US" sz="550" dirty="0"/>
          </a:p>
        </p:txBody>
      </p:sp>
      <p:sp>
        <p:nvSpPr>
          <p:cNvPr id="71" name="Shape 67"/>
          <p:cNvSpPr/>
          <p:nvPr/>
        </p:nvSpPr>
        <p:spPr>
          <a:xfrm>
            <a:off x="2054870" y="4756175"/>
            <a:ext cx="5034260" cy="1431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2" name="Text 68"/>
          <p:cNvSpPr/>
          <p:nvPr/>
        </p:nvSpPr>
        <p:spPr>
          <a:xfrm>
            <a:off x="2128093" y="4783485"/>
            <a:ext cx="858292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Ankaragücü</a:t>
            </a:r>
            <a:endParaRPr lang="en-US" sz="550" dirty="0"/>
          </a:p>
        </p:txBody>
      </p:sp>
      <p:sp>
        <p:nvSpPr>
          <p:cNvPr id="73" name="Text 69"/>
          <p:cNvSpPr/>
          <p:nvPr/>
        </p:nvSpPr>
        <p:spPr>
          <a:xfrm>
            <a:off x="3137297" y="4783485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2023-24</a:t>
            </a:r>
            <a:endParaRPr lang="en-US" sz="550" dirty="0"/>
          </a:p>
        </p:txBody>
      </p:sp>
      <p:sp>
        <p:nvSpPr>
          <p:cNvPr id="74" name="Text 70"/>
          <p:cNvSpPr/>
          <p:nvPr/>
        </p:nvSpPr>
        <p:spPr>
          <a:xfrm>
            <a:off x="4144119" y="4783485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€2.61M</a:t>
            </a:r>
            <a:endParaRPr lang="en-US" sz="550" dirty="0"/>
          </a:p>
        </p:txBody>
      </p:sp>
      <p:sp>
        <p:nvSpPr>
          <p:cNvPr id="75" name="Text 71"/>
          <p:cNvSpPr/>
          <p:nvPr/>
        </p:nvSpPr>
        <p:spPr>
          <a:xfrm>
            <a:off x="5150941" y="4783485"/>
            <a:ext cx="855911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33</a:t>
            </a:r>
            <a:endParaRPr lang="en-US" sz="550" dirty="0"/>
          </a:p>
        </p:txBody>
      </p:sp>
      <p:sp>
        <p:nvSpPr>
          <p:cNvPr id="76" name="Text 72"/>
          <p:cNvSpPr/>
          <p:nvPr/>
        </p:nvSpPr>
        <p:spPr>
          <a:xfrm>
            <a:off x="6157764" y="4783485"/>
            <a:ext cx="858292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12.65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26531" y="194890"/>
            <a:ext cx="641449" cy="119955"/>
          </a:xfrm>
          <a:prstGeom prst="roundRect">
            <a:avLst>
              <a:gd name="adj" fmla="val 7091"/>
            </a:avLst>
          </a:prstGeom>
          <a:noFill/>
          <a:ln w="4763">
            <a:solidFill>
              <a:srgbClr val="325F7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173784" y="220861"/>
            <a:ext cx="546943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PLAYER ANALYSIS B &amp; C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2126531" y="328985"/>
            <a:ext cx="27274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Mid-Season Transfers &amp; Best XI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126531" y="703064"/>
            <a:ext cx="139213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Within-League Transfers (Fig. 10)</a:t>
            </a:r>
            <a:endParaRPr lang="en-US" sz="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531" y="853604"/>
            <a:ext cx="3118545" cy="1871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26531" y="2764482"/>
            <a:ext cx="3118545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Clubs receiving mid-season transfers show markedly different G+A/90 outcomes. Average performance of transferred players appears </a:t>
            </a:r>
            <a:r>
              <a:rPr lang="en-US" sz="5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independent of club budget</a:t>
            </a: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5422776" y="638994"/>
            <a:ext cx="91871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Best XI Pitch (4-2-3-1)</a:t>
            </a:r>
            <a:endParaRPr lang="en-US" sz="6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776" y="789533"/>
            <a:ext cx="1599381" cy="19992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22776" y="2828553"/>
            <a:ext cx="1599381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Selected by G+A per EUR million (min. 900 min, min. 1 G+A). GK by Save%.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2126531" y="3083644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Best XI Player Table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2126531" y="3247504"/>
            <a:ext cx="4890939" cy="1653480"/>
          </a:xfrm>
          <a:prstGeom prst="roundRect">
            <a:avLst>
              <a:gd name="adj" fmla="val 64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9"/>
          <p:cNvSpPr/>
          <p:nvPr/>
        </p:nvSpPr>
        <p:spPr>
          <a:xfrm>
            <a:off x="2131293" y="3252267"/>
            <a:ext cx="4882381" cy="1369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0"/>
          <p:cNvSpPr/>
          <p:nvPr/>
        </p:nvSpPr>
        <p:spPr>
          <a:xfrm>
            <a:off x="2202210" y="3278237"/>
            <a:ext cx="66965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Pos.</a:t>
            </a:r>
            <a:endParaRPr lang="en-US" sz="550" dirty="0"/>
          </a:p>
        </p:txBody>
      </p:sp>
      <p:sp>
        <p:nvSpPr>
          <p:cNvPr id="15" name="Text 11"/>
          <p:cNvSpPr/>
          <p:nvPr/>
        </p:nvSpPr>
        <p:spPr>
          <a:xfrm>
            <a:off x="3018309" y="3278237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Player</a:t>
            </a:r>
            <a:endParaRPr lang="en-US" sz="550" dirty="0"/>
          </a:p>
        </p:txBody>
      </p:sp>
      <p:sp>
        <p:nvSpPr>
          <p:cNvPr id="16" name="Text 12"/>
          <p:cNvSpPr/>
          <p:nvPr/>
        </p:nvSpPr>
        <p:spPr>
          <a:xfrm>
            <a:off x="3832027" y="3278237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Club</a:t>
            </a:r>
            <a:endParaRPr lang="en-US" sz="550" dirty="0"/>
          </a:p>
        </p:txBody>
      </p:sp>
      <p:sp>
        <p:nvSpPr>
          <p:cNvPr id="17" name="Text 13"/>
          <p:cNvSpPr/>
          <p:nvPr/>
        </p:nvSpPr>
        <p:spPr>
          <a:xfrm>
            <a:off x="4645744" y="3278237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Season</a:t>
            </a:r>
            <a:endParaRPr lang="en-US" sz="550" dirty="0"/>
          </a:p>
        </p:txBody>
      </p:sp>
      <p:sp>
        <p:nvSpPr>
          <p:cNvPr id="18" name="Text 14"/>
          <p:cNvSpPr/>
          <p:nvPr/>
        </p:nvSpPr>
        <p:spPr>
          <a:xfrm>
            <a:off x="5459462" y="3278237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Stats</a:t>
            </a:r>
            <a:endParaRPr lang="en-US" sz="550" dirty="0"/>
          </a:p>
        </p:txBody>
      </p:sp>
      <p:sp>
        <p:nvSpPr>
          <p:cNvPr id="19" name="Text 15"/>
          <p:cNvSpPr/>
          <p:nvPr/>
        </p:nvSpPr>
        <p:spPr>
          <a:xfrm>
            <a:off x="6273180" y="3278237"/>
            <a:ext cx="66965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G+A/M EUR</a:t>
            </a:r>
            <a:endParaRPr lang="en-US" sz="550" dirty="0"/>
          </a:p>
        </p:txBody>
      </p:sp>
      <p:sp>
        <p:nvSpPr>
          <p:cNvPr id="20" name="Shape 16"/>
          <p:cNvSpPr/>
          <p:nvPr/>
        </p:nvSpPr>
        <p:spPr>
          <a:xfrm>
            <a:off x="2131293" y="3389263"/>
            <a:ext cx="4882381" cy="1369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7"/>
          <p:cNvSpPr/>
          <p:nvPr/>
        </p:nvSpPr>
        <p:spPr>
          <a:xfrm>
            <a:off x="2202210" y="3415233"/>
            <a:ext cx="66965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GK</a:t>
            </a:r>
            <a:endParaRPr lang="en-US" sz="550" dirty="0"/>
          </a:p>
        </p:txBody>
      </p:sp>
      <p:sp>
        <p:nvSpPr>
          <p:cNvPr id="22" name="Text 18"/>
          <p:cNvSpPr/>
          <p:nvPr/>
        </p:nvSpPr>
        <p:spPr>
          <a:xfrm>
            <a:off x="3018309" y="3415233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Dominik Livaković</a:t>
            </a:r>
            <a:endParaRPr lang="en-US" sz="550" dirty="0"/>
          </a:p>
        </p:txBody>
      </p:sp>
      <p:sp>
        <p:nvSpPr>
          <p:cNvPr id="23" name="Text 19"/>
          <p:cNvSpPr/>
          <p:nvPr/>
        </p:nvSpPr>
        <p:spPr>
          <a:xfrm>
            <a:off x="3832027" y="3415233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Fenerbahçe</a:t>
            </a:r>
            <a:endParaRPr lang="en-US" sz="550" dirty="0"/>
          </a:p>
        </p:txBody>
      </p:sp>
      <p:sp>
        <p:nvSpPr>
          <p:cNvPr id="24" name="Text 20"/>
          <p:cNvSpPr/>
          <p:nvPr/>
        </p:nvSpPr>
        <p:spPr>
          <a:xfrm>
            <a:off x="4645744" y="3415233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2023-24</a:t>
            </a:r>
            <a:endParaRPr lang="en-US" sz="550" dirty="0"/>
          </a:p>
        </p:txBody>
      </p:sp>
      <p:sp>
        <p:nvSpPr>
          <p:cNvPr id="25" name="Text 21"/>
          <p:cNvSpPr/>
          <p:nvPr/>
        </p:nvSpPr>
        <p:spPr>
          <a:xfrm>
            <a:off x="5459462" y="3415233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Save%: 74.1</a:t>
            </a:r>
            <a:endParaRPr lang="en-US" sz="550" dirty="0"/>
          </a:p>
        </p:txBody>
      </p:sp>
      <p:sp>
        <p:nvSpPr>
          <p:cNvPr id="26" name="Text 22"/>
          <p:cNvSpPr/>
          <p:nvPr/>
        </p:nvSpPr>
        <p:spPr>
          <a:xfrm>
            <a:off x="6273180" y="3415233"/>
            <a:ext cx="66965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</a:t>
            </a:r>
            <a:endParaRPr lang="en-US" sz="550" dirty="0"/>
          </a:p>
        </p:txBody>
      </p:sp>
      <p:sp>
        <p:nvSpPr>
          <p:cNvPr id="27" name="Shape 23"/>
          <p:cNvSpPr/>
          <p:nvPr/>
        </p:nvSpPr>
        <p:spPr>
          <a:xfrm>
            <a:off x="2131293" y="3526259"/>
            <a:ext cx="4882381" cy="1369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Text 24"/>
          <p:cNvSpPr/>
          <p:nvPr/>
        </p:nvSpPr>
        <p:spPr>
          <a:xfrm>
            <a:off x="2202210" y="3552230"/>
            <a:ext cx="66965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CB</a:t>
            </a:r>
            <a:endParaRPr lang="en-US" sz="550" dirty="0"/>
          </a:p>
        </p:txBody>
      </p:sp>
      <p:sp>
        <p:nvSpPr>
          <p:cNvPr id="29" name="Text 25"/>
          <p:cNvSpPr/>
          <p:nvPr/>
        </p:nvSpPr>
        <p:spPr>
          <a:xfrm>
            <a:off x="3018309" y="3552230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Uros Radakovic</a:t>
            </a:r>
            <a:endParaRPr lang="en-US" sz="550" dirty="0"/>
          </a:p>
        </p:txBody>
      </p:sp>
      <p:sp>
        <p:nvSpPr>
          <p:cNvPr id="30" name="Text 26"/>
          <p:cNvSpPr/>
          <p:nvPr/>
        </p:nvSpPr>
        <p:spPr>
          <a:xfrm>
            <a:off x="3832027" y="3552230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Sivasspor</a:t>
            </a:r>
            <a:endParaRPr lang="en-US" sz="550" dirty="0"/>
          </a:p>
        </p:txBody>
      </p:sp>
      <p:sp>
        <p:nvSpPr>
          <p:cNvPr id="31" name="Text 27"/>
          <p:cNvSpPr/>
          <p:nvPr/>
        </p:nvSpPr>
        <p:spPr>
          <a:xfrm>
            <a:off x="4645744" y="3552230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2024-25</a:t>
            </a:r>
            <a:endParaRPr lang="en-US" sz="550" dirty="0"/>
          </a:p>
        </p:txBody>
      </p:sp>
      <p:sp>
        <p:nvSpPr>
          <p:cNvPr id="32" name="Text 28"/>
          <p:cNvSpPr/>
          <p:nvPr/>
        </p:nvSpPr>
        <p:spPr>
          <a:xfrm>
            <a:off x="5459462" y="3552230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4G 0A</a:t>
            </a:r>
            <a:endParaRPr lang="en-US" sz="550" dirty="0"/>
          </a:p>
        </p:txBody>
      </p:sp>
      <p:sp>
        <p:nvSpPr>
          <p:cNvPr id="33" name="Text 29"/>
          <p:cNvSpPr/>
          <p:nvPr/>
        </p:nvSpPr>
        <p:spPr>
          <a:xfrm>
            <a:off x="6273180" y="3552230"/>
            <a:ext cx="66965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10.47</a:t>
            </a:r>
            <a:endParaRPr lang="en-US" sz="550" dirty="0"/>
          </a:p>
        </p:txBody>
      </p:sp>
      <p:sp>
        <p:nvSpPr>
          <p:cNvPr id="34" name="Shape 30"/>
          <p:cNvSpPr/>
          <p:nvPr/>
        </p:nvSpPr>
        <p:spPr>
          <a:xfrm>
            <a:off x="2131293" y="3663255"/>
            <a:ext cx="4882381" cy="1369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5" name="Text 31"/>
          <p:cNvSpPr/>
          <p:nvPr/>
        </p:nvSpPr>
        <p:spPr>
          <a:xfrm>
            <a:off x="2202210" y="3689226"/>
            <a:ext cx="66965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CB</a:t>
            </a:r>
            <a:endParaRPr lang="en-US" sz="550" dirty="0"/>
          </a:p>
        </p:txBody>
      </p:sp>
      <p:sp>
        <p:nvSpPr>
          <p:cNvPr id="36" name="Text 32"/>
          <p:cNvSpPr/>
          <p:nvPr/>
        </p:nvSpPr>
        <p:spPr>
          <a:xfrm>
            <a:off x="3018309" y="3689226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Adil Demirbağ</a:t>
            </a:r>
            <a:endParaRPr lang="en-US" sz="550" dirty="0"/>
          </a:p>
        </p:txBody>
      </p:sp>
      <p:sp>
        <p:nvSpPr>
          <p:cNvPr id="37" name="Text 33"/>
          <p:cNvSpPr/>
          <p:nvPr/>
        </p:nvSpPr>
        <p:spPr>
          <a:xfrm>
            <a:off x="3832027" y="3689226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Konyaspor</a:t>
            </a:r>
            <a:endParaRPr lang="en-US" sz="550" dirty="0"/>
          </a:p>
        </p:txBody>
      </p:sp>
      <p:sp>
        <p:nvSpPr>
          <p:cNvPr id="38" name="Text 34"/>
          <p:cNvSpPr/>
          <p:nvPr/>
        </p:nvSpPr>
        <p:spPr>
          <a:xfrm>
            <a:off x="4645744" y="3689226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2024-25</a:t>
            </a:r>
            <a:endParaRPr lang="en-US" sz="550" dirty="0"/>
          </a:p>
        </p:txBody>
      </p:sp>
      <p:sp>
        <p:nvSpPr>
          <p:cNvPr id="39" name="Text 35"/>
          <p:cNvSpPr/>
          <p:nvPr/>
        </p:nvSpPr>
        <p:spPr>
          <a:xfrm>
            <a:off x="5459462" y="3689226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2G 3A</a:t>
            </a:r>
            <a:endParaRPr lang="en-US" sz="550" dirty="0"/>
          </a:p>
        </p:txBody>
      </p:sp>
      <p:sp>
        <p:nvSpPr>
          <p:cNvPr id="40" name="Text 36"/>
          <p:cNvSpPr/>
          <p:nvPr/>
        </p:nvSpPr>
        <p:spPr>
          <a:xfrm>
            <a:off x="6273180" y="3689226"/>
            <a:ext cx="66965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9.33</a:t>
            </a:r>
            <a:endParaRPr lang="en-US" sz="550" dirty="0"/>
          </a:p>
        </p:txBody>
      </p:sp>
      <p:sp>
        <p:nvSpPr>
          <p:cNvPr id="41" name="Shape 37"/>
          <p:cNvSpPr/>
          <p:nvPr/>
        </p:nvSpPr>
        <p:spPr>
          <a:xfrm>
            <a:off x="2131293" y="3800252"/>
            <a:ext cx="4882381" cy="1369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2" name="Text 38"/>
          <p:cNvSpPr/>
          <p:nvPr/>
        </p:nvSpPr>
        <p:spPr>
          <a:xfrm>
            <a:off x="2202210" y="3826222"/>
            <a:ext cx="66965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LB</a:t>
            </a:r>
            <a:endParaRPr lang="en-US" sz="550" dirty="0"/>
          </a:p>
        </p:txBody>
      </p:sp>
      <p:sp>
        <p:nvSpPr>
          <p:cNvPr id="43" name="Text 39"/>
          <p:cNvSpPr/>
          <p:nvPr/>
        </p:nvSpPr>
        <p:spPr>
          <a:xfrm>
            <a:off x="3018309" y="3826222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Guilherme</a:t>
            </a:r>
            <a:endParaRPr lang="en-US" sz="550" dirty="0"/>
          </a:p>
        </p:txBody>
      </p:sp>
      <p:sp>
        <p:nvSpPr>
          <p:cNvPr id="44" name="Text 40"/>
          <p:cNvSpPr/>
          <p:nvPr/>
        </p:nvSpPr>
        <p:spPr>
          <a:xfrm>
            <a:off x="3832027" y="3826222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Konyaspor</a:t>
            </a:r>
            <a:endParaRPr lang="en-US" sz="550" dirty="0"/>
          </a:p>
        </p:txBody>
      </p:sp>
      <p:sp>
        <p:nvSpPr>
          <p:cNvPr id="45" name="Text 41"/>
          <p:cNvSpPr/>
          <p:nvPr/>
        </p:nvSpPr>
        <p:spPr>
          <a:xfrm>
            <a:off x="4645744" y="3826222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2023-24</a:t>
            </a:r>
            <a:endParaRPr lang="en-US" sz="550" dirty="0"/>
          </a:p>
        </p:txBody>
      </p:sp>
      <p:sp>
        <p:nvSpPr>
          <p:cNvPr id="46" name="Text 42"/>
          <p:cNvSpPr/>
          <p:nvPr/>
        </p:nvSpPr>
        <p:spPr>
          <a:xfrm>
            <a:off x="5459462" y="3826222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5G 7A</a:t>
            </a:r>
            <a:endParaRPr lang="en-US" sz="550" dirty="0"/>
          </a:p>
        </p:txBody>
      </p:sp>
      <p:sp>
        <p:nvSpPr>
          <p:cNvPr id="47" name="Text 43"/>
          <p:cNvSpPr/>
          <p:nvPr/>
        </p:nvSpPr>
        <p:spPr>
          <a:xfrm>
            <a:off x="6273180" y="3826222"/>
            <a:ext cx="66965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15.62</a:t>
            </a:r>
            <a:endParaRPr lang="en-US" sz="550" dirty="0"/>
          </a:p>
        </p:txBody>
      </p:sp>
      <p:sp>
        <p:nvSpPr>
          <p:cNvPr id="48" name="Shape 44"/>
          <p:cNvSpPr/>
          <p:nvPr/>
        </p:nvSpPr>
        <p:spPr>
          <a:xfrm>
            <a:off x="2131293" y="3937248"/>
            <a:ext cx="4882381" cy="1369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9" name="Text 45"/>
          <p:cNvSpPr/>
          <p:nvPr/>
        </p:nvSpPr>
        <p:spPr>
          <a:xfrm>
            <a:off x="2202210" y="3963219"/>
            <a:ext cx="66965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RB</a:t>
            </a:r>
            <a:endParaRPr lang="en-US" sz="550" dirty="0"/>
          </a:p>
        </p:txBody>
      </p:sp>
      <p:sp>
        <p:nvSpPr>
          <p:cNvPr id="50" name="Text 46"/>
          <p:cNvSpPr/>
          <p:nvPr/>
        </p:nvSpPr>
        <p:spPr>
          <a:xfrm>
            <a:off x="3018309" y="3963219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Deian Sorescu</a:t>
            </a:r>
            <a:endParaRPr lang="en-US" sz="550" dirty="0"/>
          </a:p>
        </p:txBody>
      </p:sp>
      <p:sp>
        <p:nvSpPr>
          <p:cNvPr id="51" name="Text 47"/>
          <p:cNvSpPr/>
          <p:nvPr/>
        </p:nvSpPr>
        <p:spPr>
          <a:xfrm>
            <a:off x="3832027" y="3963219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Gaziantep FK</a:t>
            </a:r>
            <a:endParaRPr lang="en-US" sz="550" dirty="0"/>
          </a:p>
        </p:txBody>
      </p:sp>
      <p:sp>
        <p:nvSpPr>
          <p:cNvPr id="52" name="Text 48"/>
          <p:cNvSpPr/>
          <p:nvPr/>
        </p:nvSpPr>
        <p:spPr>
          <a:xfrm>
            <a:off x="4645744" y="3963219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2024-25</a:t>
            </a:r>
            <a:endParaRPr lang="en-US" sz="550" dirty="0"/>
          </a:p>
        </p:txBody>
      </p:sp>
      <p:sp>
        <p:nvSpPr>
          <p:cNvPr id="53" name="Text 49"/>
          <p:cNvSpPr/>
          <p:nvPr/>
        </p:nvSpPr>
        <p:spPr>
          <a:xfrm>
            <a:off x="5459462" y="3963219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5G 7A</a:t>
            </a:r>
            <a:endParaRPr lang="en-US" sz="550" dirty="0"/>
          </a:p>
        </p:txBody>
      </p:sp>
      <p:sp>
        <p:nvSpPr>
          <p:cNvPr id="54" name="Text 50"/>
          <p:cNvSpPr/>
          <p:nvPr/>
        </p:nvSpPr>
        <p:spPr>
          <a:xfrm>
            <a:off x="6273180" y="3963219"/>
            <a:ext cx="66965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21.43</a:t>
            </a:r>
            <a:endParaRPr lang="en-US" sz="550" dirty="0"/>
          </a:p>
        </p:txBody>
      </p:sp>
      <p:sp>
        <p:nvSpPr>
          <p:cNvPr id="55" name="Shape 51"/>
          <p:cNvSpPr/>
          <p:nvPr/>
        </p:nvSpPr>
        <p:spPr>
          <a:xfrm>
            <a:off x="2131293" y="4074244"/>
            <a:ext cx="4882381" cy="1369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6" name="Text 52"/>
          <p:cNvSpPr/>
          <p:nvPr/>
        </p:nvSpPr>
        <p:spPr>
          <a:xfrm>
            <a:off x="2202210" y="4100215"/>
            <a:ext cx="66965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CDM</a:t>
            </a:r>
            <a:endParaRPr lang="en-US" sz="550" dirty="0"/>
          </a:p>
        </p:txBody>
      </p:sp>
      <p:sp>
        <p:nvSpPr>
          <p:cNvPr id="57" name="Text 53"/>
          <p:cNvSpPr/>
          <p:nvPr/>
        </p:nvSpPr>
        <p:spPr>
          <a:xfrm>
            <a:off x="3018309" y="4100215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Aytaç Kara</a:t>
            </a:r>
            <a:endParaRPr lang="en-US" sz="550" dirty="0"/>
          </a:p>
        </p:txBody>
      </p:sp>
      <p:sp>
        <p:nvSpPr>
          <p:cNvPr id="58" name="Text 54"/>
          <p:cNvSpPr/>
          <p:nvPr/>
        </p:nvSpPr>
        <p:spPr>
          <a:xfrm>
            <a:off x="3832027" y="4100215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Kasımpaşa</a:t>
            </a:r>
            <a:endParaRPr lang="en-US" sz="550" dirty="0"/>
          </a:p>
        </p:txBody>
      </p:sp>
      <p:sp>
        <p:nvSpPr>
          <p:cNvPr id="59" name="Text 55"/>
          <p:cNvSpPr/>
          <p:nvPr/>
        </p:nvSpPr>
        <p:spPr>
          <a:xfrm>
            <a:off x="4645744" y="4100215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2023-24</a:t>
            </a:r>
            <a:endParaRPr lang="en-US" sz="550" dirty="0"/>
          </a:p>
        </p:txBody>
      </p:sp>
      <p:sp>
        <p:nvSpPr>
          <p:cNvPr id="60" name="Text 56"/>
          <p:cNvSpPr/>
          <p:nvPr/>
        </p:nvSpPr>
        <p:spPr>
          <a:xfrm>
            <a:off x="5459462" y="4100215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14G 4A</a:t>
            </a:r>
            <a:endParaRPr lang="en-US" sz="550" dirty="0"/>
          </a:p>
        </p:txBody>
      </p:sp>
      <p:sp>
        <p:nvSpPr>
          <p:cNvPr id="61" name="Text 57"/>
          <p:cNvSpPr/>
          <p:nvPr/>
        </p:nvSpPr>
        <p:spPr>
          <a:xfrm>
            <a:off x="6273180" y="4100215"/>
            <a:ext cx="66965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26.71</a:t>
            </a:r>
            <a:endParaRPr lang="en-US" sz="550" dirty="0"/>
          </a:p>
        </p:txBody>
      </p:sp>
      <p:sp>
        <p:nvSpPr>
          <p:cNvPr id="62" name="Shape 58"/>
          <p:cNvSpPr/>
          <p:nvPr/>
        </p:nvSpPr>
        <p:spPr>
          <a:xfrm>
            <a:off x="2131293" y="4211241"/>
            <a:ext cx="4882381" cy="1369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3" name="Text 59"/>
          <p:cNvSpPr/>
          <p:nvPr/>
        </p:nvSpPr>
        <p:spPr>
          <a:xfrm>
            <a:off x="2202210" y="4237211"/>
            <a:ext cx="66965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CDM</a:t>
            </a:r>
            <a:endParaRPr lang="en-US" sz="550" dirty="0"/>
          </a:p>
        </p:txBody>
      </p:sp>
      <p:sp>
        <p:nvSpPr>
          <p:cNvPr id="64" name="Text 60"/>
          <p:cNvSpPr/>
          <p:nvPr/>
        </p:nvSpPr>
        <p:spPr>
          <a:xfrm>
            <a:off x="3018309" y="4237211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Görkem Sağlam</a:t>
            </a:r>
            <a:endParaRPr lang="en-US" sz="550" dirty="0"/>
          </a:p>
        </p:txBody>
      </p:sp>
      <p:sp>
        <p:nvSpPr>
          <p:cNvPr id="65" name="Text 61"/>
          <p:cNvSpPr/>
          <p:nvPr/>
        </p:nvSpPr>
        <p:spPr>
          <a:xfrm>
            <a:off x="3832027" y="4237211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Hatayspor</a:t>
            </a:r>
            <a:endParaRPr lang="en-US" sz="550" dirty="0"/>
          </a:p>
        </p:txBody>
      </p:sp>
      <p:sp>
        <p:nvSpPr>
          <p:cNvPr id="66" name="Text 62"/>
          <p:cNvSpPr/>
          <p:nvPr/>
        </p:nvSpPr>
        <p:spPr>
          <a:xfrm>
            <a:off x="4645744" y="4237211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2024-25</a:t>
            </a:r>
            <a:endParaRPr lang="en-US" sz="550" dirty="0"/>
          </a:p>
        </p:txBody>
      </p:sp>
      <p:sp>
        <p:nvSpPr>
          <p:cNvPr id="67" name="Text 63"/>
          <p:cNvSpPr/>
          <p:nvPr/>
        </p:nvSpPr>
        <p:spPr>
          <a:xfrm>
            <a:off x="5459462" y="4237211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4G 9A</a:t>
            </a:r>
            <a:endParaRPr lang="en-US" sz="550" dirty="0"/>
          </a:p>
        </p:txBody>
      </p:sp>
      <p:sp>
        <p:nvSpPr>
          <p:cNvPr id="68" name="Text 64"/>
          <p:cNvSpPr/>
          <p:nvPr/>
        </p:nvSpPr>
        <p:spPr>
          <a:xfrm>
            <a:off x="6273180" y="4237211"/>
            <a:ext cx="66965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24.95</a:t>
            </a:r>
            <a:endParaRPr lang="en-US" sz="550" dirty="0"/>
          </a:p>
        </p:txBody>
      </p:sp>
      <p:sp>
        <p:nvSpPr>
          <p:cNvPr id="69" name="Shape 65"/>
          <p:cNvSpPr/>
          <p:nvPr/>
        </p:nvSpPr>
        <p:spPr>
          <a:xfrm>
            <a:off x="2131293" y="4348237"/>
            <a:ext cx="4882381" cy="1369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0" name="Text 66"/>
          <p:cNvSpPr/>
          <p:nvPr/>
        </p:nvSpPr>
        <p:spPr>
          <a:xfrm>
            <a:off x="2202210" y="4374207"/>
            <a:ext cx="66965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CAM</a:t>
            </a:r>
            <a:endParaRPr lang="en-US" sz="550" dirty="0"/>
          </a:p>
        </p:txBody>
      </p:sp>
      <p:sp>
        <p:nvSpPr>
          <p:cNvPr id="71" name="Text 67"/>
          <p:cNvSpPr/>
          <p:nvPr/>
        </p:nvSpPr>
        <p:spPr>
          <a:xfrm>
            <a:off x="3018309" y="4374207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Haris Hajradinovic</a:t>
            </a:r>
            <a:endParaRPr lang="en-US" sz="550" dirty="0"/>
          </a:p>
        </p:txBody>
      </p:sp>
      <p:sp>
        <p:nvSpPr>
          <p:cNvPr id="72" name="Text 68"/>
          <p:cNvSpPr/>
          <p:nvPr/>
        </p:nvSpPr>
        <p:spPr>
          <a:xfrm>
            <a:off x="3832027" y="4374207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Kasımpaşa</a:t>
            </a:r>
            <a:endParaRPr lang="en-US" sz="550" dirty="0"/>
          </a:p>
        </p:txBody>
      </p:sp>
      <p:sp>
        <p:nvSpPr>
          <p:cNvPr id="73" name="Text 69"/>
          <p:cNvSpPr/>
          <p:nvPr/>
        </p:nvSpPr>
        <p:spPr>
          <a:xfrm>
            <a:off x="4645744" y="4374207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2023-24</a:t>
            </a:r>
            <a:endParaRPr lang="en-US" sz="550" dirty="0"/>
          </a:p>
        </p:txBody>
      </p:sp>
      <p:sp>
        <p:nvSpPr>
          <p:cNvPr id="74" name="Text 70"/>
          <p:cNvSpPr/>
          <p:nvPr/>
        </p:nvSpPr>
        <p:spPr>
          <a:xfrm>
            <a:off x="5459462" y="4374207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5G 16A</a:t>
            </a:r>
            <a:endParaRPr lang="en-US" sz="550" dirty="0"/>
          </a:p>
        </p:txBody>
      </p:sp>
      <p:sp>
        <p:nvSpPr>
          <p:cNvPr id="75" name="Text 71"/>
          <p:cNvSpPr/>
          <p:nvPr/>
        </p:nvSpPr>
        <p:spPr>
          <a:xfrm>
            <a:off x="6273180" y="4374207"/>
            <a:ext cx="66965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31.16</a:t>
            </a:r>
            <a:endParaRPr lang="en-US" sz="550" dirty="0"/>
          </a:p>
        </p:txBody>
      </p:sp>
      <p:sp>
        <p:nvSpPr>
          <p:cNvPr id="76" name="Shape 72"/>
          <p:cNvSpPr/>
          <p:nvPr/>
        </p:nvSpPr>
        <p:spPr>
          <a:xfrm>
            <a:off x="2131293" y="4485233"/>
            <a:ext cx="4882381" cy="1369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7" name="Text 73"/>
          <p:cNvSpPr/>
          <p:nvPr/>
        </p:nvSpPr>
        <p:spPr>
          <a:xfrm>
            <a:off x="2202210" y="4511204"/>
            <a:ext cx="66965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LW</a:t>
            </a:r>
            <a:endParaRPr lang="en-US" sz="550" dirty="0"/>
          </a:p>
        </p:txBody>
      </p:sp>
      <p:sp>
        <p:nvSpPr>
          <p:cNvPr id="78" name="Text 74"/>
          <p:cNvSpPr/>
          <p:nvPr/>
        </p:nvSpPr>
        <p:spPr>
          <a:xfrm>
            <a:off x="3018309" y="4511204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Miguel Cardoso</a:t>
            </a:r>
            <a:endParaRPr lang="en-US" sz="550" dirty="0"/>
          </a:p>
        </p:txBody>
      </p:sp>
      <p:sp>
        <p:nvSpPr>
          <p:cNvPr id="79" name="Text 75"/>
          <p:cNvSpPr/>
          <p:nvPr/>
        </p:nvSpPr>
        <p:spPr>
          <a:xfrm>
            <a:off x="3832027" y="4511204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Kayserispor</a:t>
            </a:r>
            <a:endParaRPr lang="en-US" sz="550" dirty="0"/>
          </a:p>
        </p:txBody>
      </p:sp>
      <p:sp>
        <p:nvSpPr>
          <p:cNvPr id="80" name="Text 76"/>
          <p:cNvSpPr/>
          <p:nvPr/>
        </p:nvSpPr>
        <p:spPr>
          <a:xfrm>
            <a:off x="4645744" y="4511204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2024-25</a:t>
            </a:r>
            <a:endParaRPr lang="en-US" sz="550" dirty="0"/>
          </a:p>
        </p:txBody>
      </p:sp>
      <p:sp>
        <p:nvSpPr>
          <p:cNvPr id="81" name="Text 77"/>
          <p:cNvSpPr/>
          <p:nvPr/>
        </p:nvSpPr>
        <p:spPr>
          <a:xfrm>
            <a:off x="5459462" y="4511204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8G 9A</a:t>
            </a:r>
            <a:endParaRPr lang="en-US" sz="550" dirty="0"/>
          </a:p>
        </p:txBody>
      </p:sp>
      <p:sp>
        <p:nvSpPr>
          <p:cNvPr id="82" name="Text 78"/>
          <p:cNvSpPr/>
          <p:nvPr/>
        </p:nvSpPr>
        <p:spPr>
          <a:xfrm>
            <a:off x="6273180" y="4511204"/>
            <a:ext cx="66965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31.14</a:t>
            </a:r>
            <a:endParaRPr lang="en-US" sz="550" dirty="0"/>
          </a:p>
        </p:txBody>
      </p:sp>
      <p:sp>
        <p:nvSpPr>
          <p:cNvPr id="83" name="Shape 79"/>
          <p:cNvSpPr/>
          <p:nvPr/>
        </p:nvSpPr>
        <p:spPr>
          <a:xfrm>
            <a:off x="2131293" y="4622229"/>
            <a:ext cx="4882381" cy="1369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4" name="Text 80"/>
          <p:cNvSpPr/>
          <p:nvPr/>
        </p:nvSpPr>
        <p:spPr>
          <a:xfrm>
            <a:off x="2202210" y="4648200"/>
            <a:ext cx="66965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RW</a:t>
            </a:r>
            <a:endParaRPr lang="en-US" sz="550" dirty="0"/>
          </a:p>
        </p:txBody>
      </p:sp>
      <p:sp>
        <p:nvSpPr>
          <p:cNvPr id="85" name="Text 81"/>
          <p:cNvSpPr/>
          <p:nvPr/>
        </p:nvSpPr>
        <p:spPr>
          <a:xfrm>
            <a:off x="3018309" y="4648200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Bilal Boutobba</a:t>
            </a:r>
            <a:endParaRPr lang="en-US" sz="550" dirty="0"/>
          </a:p>
        </p:txBody>
      </p:sp>
      <p:sp>
        <p:nvSpPr>
          <p:cNvPr id="86" name="Text 82"/>
          <p:cNvSpPr/>
          <p:nvPr/>
        </p:nvSpPr>
        <p:spPr>
          <a:xfrm>
            <a:off x="3832027" y="4648200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Hatayspor</a:t>
            </a:r>
            <a:endParaRPr lang="en-US" sz="550" dirty="0"/>
          </a:p>
        </p:txBody>
      </p:sp>
      <p:sp>
        <p:nvSpPr>
          <p:cNvPr id="87" name="Text 83"/>
          <p:cNvSpPr/>
          <p:nvPr/>
        </p:nvSpPr>
        <p:spPr>
          <a:xfrm>
            <a:off x="4645744" y="4648200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2024-25</a:t>
            </a:r>
            <a:endParaRPr lang="en-US" sz="550" dirty="0"/>
          </a:p>
        </p:txBody>
      </p:sp>
      <p:sp>
        <p:nvSpPr>
          <p:cNvPr id="88" name="Text 84"/>
          <p:cNvSpPr/>
          <p:nvPr/>
        </p:nvSpPr>
        <p:spPr>
          <a:xfrm>
            <a:off x="5459462" y="4648200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11G 3A</a:t>
            </a:r>
            <a:endParaRPr lang="en-US" sz="550" dirty="0"/>
          </a:p>
        </p:txBody>
      </p:sp>
      <p:sp>
        <p:nvSpPr>
          <p:cNvPr id="89" name="Text 85"/>
          <p:cNvSpPr/>
          <p:nvPr/>
        </p:nvSpPr>
        <p:spPr>
          <a:xfrm>
            <a:off x="6273180" y="4648200"/>
            <a:ext cx="66965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26.87</a:t>
            </a:r>
            <a:endParaRPr lang="en-US" sz="550" dirty="0"/>
          </a:p>
        </p:txBody>
      </p:sp>
      <p:sp>
        <p:nvSpPr>
          <p:cNvPr id="90" name="Shape 86"/>
          <p:cNvSpPr/>
          <p:nvPr/>
        </p:nvSpPr>
        <p:spPr>
          <a:xfrm>
            <a:off x="2131293" y="4759226"/>
            <a:ext cx="4882381" cy="1369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1" name="Text 87"/>
          <p:cNvSpPr/>
          <p:nvPr/>
        </p:nvSpPr>
        <p:spPr>
          <a:xfrm>
            <a:off x="2202210" y="4785196"/>
            <a:ext cx="66965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</a:t>
            </a:r>
            <a:endParaRPr lang="en-US" sz="550" dirty="0"/>
          </a:p>
        </p:txBody>
      </p:sp>
      <p:sp>
        <p:nvSpPr>
          <p:cNvPr id="92" name="Text 88"/>
          <p:cNvSpPr/>
          <p:nvPr/>
        </p:nvSpPr>
        <p:spPr>
          <a:xfrm>
            <a:off x="3018309" y="4785196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Rey Manaj</a:t>
            </a:r>
            <a:endParaRPr lang="en-US" sz="550" dirty="0"/>
          </a:p>
        </p:txBody>
      </p:sp>
      <p:sp>
        <p:nvSpPr>
          <p:cNvPr id="93" name="Text 89"/>
          <p:cNvSpPr/>
          <p:nvPr/>
        </p:nvSpPr>
        <p:spPr>
          <a:xfrm>
            <a:off x="3832027" y="4785196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Sivasspor</a:t>
            </a:r>
            <a:endParaRPr lang="en-US" sz="550" dirty="0"/>
          </a:p>
        </p:txBody>
      </p:sp>
      <p:sp>
        <p:nvSpPr>
          <p:cNvPr id="94" name="Text 90"/>
          <p:cNvSpPr/>
          <p:nvPr/>
        </p:nvSpPr>
        <p:spPr>
          <a:xfrm>
            <a:off x="4645744" y="4785196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2024-25</a:t>
            </a:r>
            <a:endParaRPr lang="en-US" sz="550" dirty="0"/>
          </a:p>
        </p:txBody>
      </p:sp>
      <p:sp>
        <p:nvSpPr>
          <p:cNvPr id="95" name="Text 91"/>
          <p:cNvSpPr/>
          <p:nvPr/>
        </p:nvSpPr>
        <p:spPr>
          <a:xfrm>
            <a:off x="5459462" y="4785196"/>
            <a:ext cx="6672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12G 5A</a:t>
            </a:r>
            <a:endParaRPr lang="en-US" sz="550" dirty="0"/>
          </a:p>
        </p:txBody>
      </p:sp>
      <p:sp>
        <p:nvSpPr>
          <p:cNvPr id="96" name="Text 92"/>
          <p:cNvSpPr/>
          <p:nvPr/>
        </p:nvSpPr>
        <p:spPr>
          <a:xfrm>
            <a:off x="6273180" y="4785196"/>
            <a:ext cx="66965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44.5</a:t>
            </a:r>
            <a:endParaRPr lang="en-US" sz="550" dirty="0"/>
          </a:p>
        </p:txBody>
      </p:sp>
      <p:sp>
        <p:nvSpPr>
          <p:cNvPr id="97" name="Shape 93"/>
          <p:cNvSpPr/>
          <p:nvPr/>
        </p:nvSpPr>
        <p:spPr>
          <a:xfrm>
            <a:off x="2126531" y="4940796"/>
            <a:ext cx="4890939" cy="209104"/>
          </a:xfrm>
          <a:prstGeom prst="roundRect">
            <a:avLst>
              <a:gd name="adj" fmla="val 5085"/>
            </a:avLst>
          </a:prstGeom>
          <a:solidFill>
            <a:srgbClr val="C9DDE9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9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7373" y="5029349"/>
            <a:ext cx="88553" cy="70842"/>
          </a:xfrm>
          <a:prstGeom prst="rect">
            <a:avLst/>
          </a:prstGeom>
        </p:spPr>
      </p:pic>
      <p:sp>
        <p:nvSpPr>
          <p:cNvPr id="99" name="Text 94"/>
          <p:cNvSpPr/>
          <p:nvPr/>
        </p:nvSpPr>
        <p:spPr>
          <a:xfrm>
            <a:off x="2356768" y="4993928"/>
            <a:ext cx="458985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entire Best XI is drawn from mid-table clubs. </a:t>
            </a:r>
            <a:r>
              <a:rPr lang="en-US" sz="5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"Most expensive player = best investment" does not hold in Turkish football.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61578"/>
            <a:ext cx="5762179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Overall Club Efficiency Rankings (3 Seasons)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827336" y="918865"/>
            <a:ext cx="795263" cy="187672"/>
          </a:xfrm>
          <a:prstGeom prst="roundRect">
            <a:avLst>
              <a:gd name="adj" fmla="val 6940"/>
            </a:avLst>
          </a:prstGeom>
          <a:solidFill>
            <a:srgbClr val="DBE8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892448" y="951384"/>
            <a:ext cx="665038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TOP PERFORMERS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827336" y="1200001"/>
            <a:ext cx="3612207" cy="1738015"/>
          </a:xfrm>
          <a:prstGeom prst="roundRect">
            <a:avLst>
              <a:gd name="adj" fmla="val 93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832098" y="1204764"/>
            <a:ext cx="3602682" cy="4158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940743" y="1259384"/>
            <a:ext cx="681261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Club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43757" y="1259384"/>
            <a:ext cx="67887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Avg Squad Value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4391" y="1259384"/>
            <a:ext cx="67887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Avg Pts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45024" y="1259384"/>
            <a:ext cx="681261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Avg Eff.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32098" y="1620589"/>
            <a:ext cx="3602682" cy="2625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940743" y="1675209"/>
            <a:ext cx="681261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Sivasspor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843757" y="1675209"/>
            <a:ext cx="67887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EUR 23.8M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4391" y="1675209"/>
            <a:ext cx="67887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44.5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45024" y="1675209"/>
            <a:ext cx="681261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+8.5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32098" y="1883122"/>
            <a:ext cx="3602682" cy="262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940743" y="1937742"/>
            <a:ext cx="681261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Galatasaray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843757" y="1937742"/>
            <a:ext cx="67887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EUR 305.9M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44391" y="1937742"/>
            <a:ext cx="67887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90.3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45024" y="1937742"/>
            <a:ext cx="681261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+6.9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32098" y="2145655"/>
            <a:ext cx="3602682" cy="2625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940743" y="2200275"/>
            <a:ext cx="681261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Samsunspor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843757" y="2200275"/>
            <a:ext cx="67887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EUR 40.2M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44391" y="2200275"/>
            <a:ext cx="67887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51.7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45024" y="2200275"/>
            <a:ext cx="681261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+5.7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32098" y="2408188"/>
            <a:ext cx="3602682" cy="262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940743" y="2462808"/>
            <a:ext cx="681261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Eyüpspor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843757" y="2462808"/>
            <a:ext cx="67887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EUR 24.6M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744391" y="2462808"/>
            <a:ext cx="67887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41.0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45024" y="2462808"/>
            <a:ext cx="681261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+5.6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32098" y="2670721"/>
            <a:ext cx="3602682" cy="2625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940743" y="2725341"/>
            <a:ext cx="681261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Fenerbahçe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843757" y="2725341"/>
            <a:ext cx="67887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EUR 245.3M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44391" y="2725341"/>
            <a:ext cx="67887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84.3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45024" y="2725341"/>
            <a:ext cx="681261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+4.87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27336" y="3031480"/>
            <a:ext cx="971773" cy="197197"/>
          </a:xfrm>
          <a:prstGeom prst="roundRect">
            <a:avLst>
              <a:gd name="adj" fmla="val 6605"/>
            </a:avLst>
          </a:prstGeom>
          <a:noFill/>
          <a:ln w="4763">
            <a:solidFill>
              <a:srgbClr val="325F7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897210" y="3068762"/>
            <a:ext cx="832024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65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BOTTOM PERFORMERS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827336" y="3322141"/>
            <a:ext cx="3612207" cy="1366242"/>
          </a:xfrm>
          <a:prstGeom prst="roundRect">
            <a:avLst>
              <a:gd name="adj" fmla="val 119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832098" y="3326904"/>
            <a:ext cx="3602682" cy="4158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940743" y="3381524"/>
            <a:ext cx="681261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Club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843757" y="3381524"/>
            <a:ext cx="67887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Avg Squad Value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744391" y="3381524"/>
            <a:ext cx="67887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Avg Pts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645024" y="3381524"/>
            <a:ext cx="681261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Avg Eff.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32098" y="3742730"/>
            <a:ext cx="3602682" cy="2625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940743" y="3797350"/>
            <a:ext cx="681261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Beşiktaş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843757" y="3797350"/>
            <a:ext cx="67887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EUR 156.5M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744391" y="3797350"/>
            <a:ext cx="67887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59.0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645024" y="3797350"/>
            <a:ext cx="681261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-12.13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32098" y="4005263"/>
            <a:ext cx="3602682" cy="4158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940743" y="4059882"/>
            <a:ext cx="681261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Adana Demirspor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843757" y="4059882"/>
            <a:ext cx="67887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EUR 36.6M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744391" y="4059882"/>
            <a:ext cx="67887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23.0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645024" y="4059882"/>
            <a:ext cx="681261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-19.5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32098" y="4421088"/>
            <a:ext cx="3602682" cy="2625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5" name="Text 53"/>
          <p:cNvSpPr/>
          <p:nvPr/>
        </p:nvSpPr>
        <p:spPr>
          <a:xfrm>
            <a:off x="940743" y="4475708"/>
            <a:ext cx="681261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Trabzonspor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843757" y="4475708"/>
            <a:ext cx="67887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EUR 116.9M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744391" y="4475708"/>
            <a:ext cx="67887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61.3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645024" y="4475708"/>
            <a:ext cx="681261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-4.6</a:t>
            </a:r>
            <a:endParaRPr lang="en-US" sz="850" dirty="0"/>
          </a:p>
        </p:txBody>
      </p:sp>
      <p:pic>
        <p:nvPicPr>
          <p:cNvPr id="5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071" y="997521"/>
            <a:ext cx="3612207" cy="3612207"/>
          </a:xfrm>
          <a:prstGeom prst="rect">
            <a:avLst/>
          </a:prstGeom>
        </p:spPr>
      </p:pic>
      <p:pic>
        <p:nvPicPr>
          <p:cNvPr id="6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071" y="997521"/>
            <a:ext cx="3612207" cy="36122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759" y="345504"/>
            <a:ext cx="651346" cy="182761"/>
          </a:xfrm>
          <a:prstGeom prst="roundRect">
            <a:avLst>
              <a:gd name="adj" fmla="val 6981"/>
            </a:avLst>
          </a:prstGeom>
          <a:solidFill>
            <a:srgbClr val="DBE8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967532" y="377354"/>
            <a:ext cx="523801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CONCLUSIONS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3759" y="560115"/>
            <a:ext cx="4015234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Key Takeaways &amp; Future Work</a:t>
            </a:r>
            <a:endParaRPr lang="en-US" sz="2050" dirty="0"/>
          </a:p>
        </p:txBody>
      </p:sp>
      <p:sp>
        <p:nvSpPr>
          <p:cNvPr id="5" name="Shape 3"/>
          <p:cNvSpPr/>
          <p:nvPr/>
        </p:nvSpPr>
        <p:spPr>
          <a:xfrm>
            <a:off x="903759" y="1101626"/>
            <a:ext cx="1729383" cy="1099468"/>
          </a:xfrm>
          <a:prstGeom prst="roundRect">
            <a:avLst>
              <a:gd name="adj" fmla="val 6238"/>
            </a:avLst>
          </a:prstGeom>
          <a:solidFill>
            <a:srgbClr val="FFFCF5"/>
          </a:solidFill>
          <a:ln w="14288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889471" y="1101626"/>
            <a:ext cx="57150" cy="1099468"/>
          </a:xfrm>
          <a:prstGeom prst="roundRect">
            <a:avLst>
              <a:gd name="adj" fmla="val 27907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067172" y="1222177"/>
            <a:ext cx="1445419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Budget matters — but not everything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67172" y="1634058"/>
            <a:ext cx="1445419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 = 0.855, R² = 0.72. 28% of variance explained by other factors.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12839" y="1101626"/>
            <a:ext cx="1729383" cy="1099468"/>
          </a:xfrm>
          <a:prstGeom prst="roundRect">
            <a:avLst>
              <a:gd name="adj" fmla="val 6238"/>
            </a:avLst>
          </a:prstGeom>
          <a:solidFill>
            <a:srgbClr val="FFFCF5"/>
          </a:solidFill>
          <a:ln w="14288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2698552" y="1101626"/>
            <a:ext cx="57150" cy="1099468"/>
          </a:xfrm>
          <a:prstGeom prst="roundRect">
            <a:avLst>
              <a:gd name="adj" fmla="val 27907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2876252" y="1222177"/>
            <a:ext cx="1445419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Galatasaray: efficient giant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76252" y="1634058"/>
            <a:ext cx="1445419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Avg. efficiency +6.9 — earns more points than budget predicts, consistently.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03759" y="2280791"/>
            <a:ext cx="1729383" cy="1099468"/>
          </a:xfrm>
          <a:prstGeom prst="roundRect">
            <a:avLst>
              <a:gd name="adj" fmla="val 6238"/>
            </a:avLst>
          </a:prstGeom>
          <a:solidFill>
            <a:srgbClr val="FFFCF5"/>
          </a:solidFill>
          <a:ln w="14288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889471" y="2280791"/>
            <a:ext cx="57150" cy="1099468"/>
          </a:xfrm>
          <a:prstGeom prst="roundRect">
            <a:avLst>
              <a:gd name="adj" fmla="val 27907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1067172" y="2401342"/>
            <a:ext cx="1445419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Mid-table clubs punch above weight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67172" y="2813224"/>
            <a:ext cx="1445419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Sivasspor (+8.5), Samsunspor (+5.7), Eyüpspor (+5.6) systematically over-perform.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12839" y="2280791"/>
            <a:ext cx="1729383" cy="1099468"/>
          </a:xfrm>
          <a:prstGeom prst="roundRect">
            <a:avLst>
              <a:gd name="adj" fmla="val 6238"/>
            </a:avLst>
          </a:prstGeom>
          <a:solidFill>
            <a:srgbClr val="FFFCF5"/>
          </a:solidFill>
          <a:ln w="14288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2698552" y="2280791"/>
            <a:ext cx="57150" cy="1099468"/>
          </a:xfrm>
          <a:prstGeom prst="roundRect">
            <a:avLst>
              <a:gd name="adj" fmla="val 27907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2876252" y="2401342"/>
            <a:ext cx="1445419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Expensive forwards ≠ more goals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76252" y="2813224"/>
            <a:ext cx="1445419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 = −0.12. Mid-table clubs achieve comparable goal tallies at far lower cost.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03759" y="3459956"/>
            <a:ext cx="1729383" cy="1248296"/>
          </a:xfrm>
          <a:prstGeom prst="roundRect">
            <a:avLst>
              <a:gd name="adj" fmla="val 5494"/>
            </a:avLst>
          </a:prstGeom>
          <a:solidFill>
            <a:srgbClr val="FFFCF5"/>
          </a:solidFill>
          <a:ln w="14288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889471" y="3459956"/>
            <a:ext cx="57150" cy="1248296"/>
          </a:xfrm>
          <a:prstGeom prst="roundRect">
            <a:avLst>
              <a:gd name="adj" fmla="val 27907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1067172" y="3580507"/>
            <a:ext cx="1445419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Star-player myth debunked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67172" y="3992389"/>
            <a:ext cx="144541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Best XI entirely from mid-table clubs. High-value stars underperform on cost-adjusted basis.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06392" y="1091654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6392" y="1337444"/>
            <a:ext cx="3538463" cy="679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2025-26 season may be incomplete as of May 2026</a:t>
            </a:r>
            <a:endParaRPr lang="en-US" sz="80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Club-level wage bills only; individual salaries approximated</a:t>
            </a:r>
            <a:endParaRPr lang="en-US" sz="80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Player market values proxied by team season average</a:t>
            </a:r>
            <a:endParaRPr lang="en-US" sz="80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Unobserved factors (coaching, injuries) not controlled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06392" y="2096170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Future Work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6392" y="2341959"/>
            <a:ext cx="3538463" cy="679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Multi-variable regression: coaching tenure, fixture strength, home/away split</a:t>
            </a:r>
            <a:endParaRPr lang="en-US" sz="80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Age-performance interaction analysis</a:t>
            </a:r>
            <a:endParaRPr lang="en-US" sz="80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Tactical indicators: xG, pressing intensity, possession</a:t>
            </a:r>
            <a:endParaRPr lang="en-US" sz="80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Extend to Greek Super League, Belgian Pro League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6392" y="3110657"/>
            <a:ext cx="3538463" cy="528786"/>
          </a:xfrm>
          <a:prstGeom prst="roundRect">
            <a:avLst>
              <a:gd name="adj" fmla="val 3016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655" y="3255243"/>
            <a:ext cx="132904" cy="106263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051822" y="3216920"/>
            <a:ext cx="308677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Data: Transfermarkt · FBref · Capology.com</a:t>
            </a:r>
            <a:endParaRPr lang="en-US" sz="800" dirty="0"/>
          </a:p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GitHub: emu-hacettepe-analytics/emu430-fall2024-team-smartspend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1292</Words>
  <Application>Microsoft Macintosh PowerPoint</Application>
  <PresentationFormat>Ekran Gösterisi (16:9)</PresentationFormat>
  <Paragraphs>361</Paragraphs>
  <Slides>11</Slides>
  <Notes>11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6" baseType="lpstr">
      <vt:lpstr>Arial</vt:lpstr>
      <vt:lpstr>MuseoModerno Light</vt:lpstr>
      <vt:lpstr>MuseoModerno Medium</vt:lpstr>
      <vt:lpstr>Source Sans 3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SALTUK BUGRAHAN TASDEMIR</cp:lastModifiedBy>
  <cp:revision>2</cp:revision>
  <dcterms:created xsi:type="dcterms:W3CDTF">2026-05-08T00:01:09Z</dcterms:created>
  <dcterms:modified xsi:type="dcterms:W3CDTF">2026-05-08T00:02:09Z</dcterms:modified>
</cp:coreProperties>
</file>